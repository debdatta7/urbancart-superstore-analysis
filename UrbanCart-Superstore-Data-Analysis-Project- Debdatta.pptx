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4" r:id="rId7"/>
    <p:sldId id="261" r:id="rId8"/>
    <p:sldId id="262" r:id="rId9"/>
    <p:sldId id="263" r:id="rId10"/>
  </p:sldIdLst>
  <p:sldSz cx="14630400" cy="8229600"/>
  <p:notesSz cx="8229600" cy="14630400"/>
  <p:embeddedFontLst>
    <p:embeddedFont>
      <p:font typeface="Calibri" panose="020F0502020204030204" pitchFamily="34" charset="0"/>
      <p:regular r:id="rId12"/>
      <p:bold r:id="rId13"/>
      <p:italic r:id="rId14"/>
      <p:boldItalic r:id="rId15"/>
    </p:embeddedFont>
    <p:embeddedFont>
      <p:font typeface="Gotham" pitchFamily="50" charset="0"/>
      <p:regular r:id="rId16"/>
      <p:bold r:id="rId17"/>
      <p:italic r:id="rId18"/>
      <p:boldItalic r:id="rId19"/>
    </p:embeddedFont>
    <p:embeddedFont>
      <p:font typeface="Gotham Black" pitchFamily="50" charset="0"/>
      <p:bold r:id="rId20"/>
      <p:boldItalic r:id="rId21"/>
    </p:embeddedFont>
    <p:embeddedFont>
      <p:font typeface="Montserrat" panose="00000500000000000000" pitchFamily="2" charset="0"/>
      <p:regular r:id="rId22"/>
      <p:bold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C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7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9639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tm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6.xml"/><Relationship Id="rId4" Type="http://schemas.openxmlformats.org/officeDocument/2006/relationships/image" Target="../media/image8.tmp"/></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tmp"/><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tmp"/><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3.png"/><Relationship Id="rId11" Type="http://schemas.openxmlformats.org/officeDocument/2006/relationships/image" Target="../media/image28.tmp"/><Relationship Id="rId5" Type="http://schemas.openxmlformats.org/officeDocument/2006/relationships/image" Target="../media/image22.svg"/><Relationship Id="rId10" Type="http://schemas.openxmlformats.org/officeDocument/2006/relationships/image" Target="../media/image27.tmp"/><Relationship Id="rId4" Type="http://schemas.openxmlformats.org/officeDocument/2006/relationships/image" Target="../media/image21.png"/><Relationship Id="rId9"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8108990" y="1479828"/>
            <a:ext cx="5727621" cy="2543175"/>
          </a:xfrm>
          <a:prstGeom prst="rect">
            <a:avLst/>
          </a:prstGeom>
          <a:noFill/>
          <a:ln/>
        </p:spPr>
        <p:txBody>
          <a:bodyPr wrap="square" lIns="0" tIns="0" rIns="0" bIns="0" rtlCol="0" anchor="t"/>
          <a:lstStyle/>
          <a:p>
            <a:pPr marL="0" indent="0" algn="l">
              <a:lnSpc>
                <a:spcPts val="6650"/>
              </a:lnSpc>
              <a:buNone/>
            </a:pPr>
            <a:r>
              <a:rPr lang="en-US" sz="5100" dirty="0">
                <a:solidFill>
                  <a:srgbClr val="532418"/>
                </a:solidFill>
                <a:latin typeface="Gotham Black" pitchFamily="50" charset="0"/>
                <a:ea typeface="Marcellus" pitchFamily="34" charset="-122"/>
                <a:cs typeface="Gotham Black" pitchFamily="50" charset="0"/>
              </a:rPr>
              <a:t>UrbanCart Superstore Data Analysis Project</a:t>
            </a:r>
            <a:endParaRPr lang="en-US" sz="5100" dirty="0">
              <a:latin typeface="Gotham Black" pitchFamily="50" charset="0"/>
              <a:cs typeface="Gotham Black" pitchFamily="50" charset="0"/>
            </a:endParaRPr>
          </a:p>
        </p:txBody>
      </p:sp>
      <p:sp>
        <p:nvSpPr>
          <p:cNvPr id="4" name="Text 1"/>
          <p:cNvSpPr/>
          <p:nvPr/>
        </p:nvSpPr>
        <p:spPr>
          <a:xfrm>
            <a:off x="8108990" y="4363164"/>
            <a:ext cx="5727621" cy="1179195"/>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Gotham" pitchFamily="50" charset="0"/>
                <a:ea typeface="Montserrat" pitchFamily="34" charset="-122"/>
                <a:cs typeface="Gotham" pitchFamily="50" charset="0"/>
              </a:rPr>
              <a:t>A comprehensive Python-based analysis uncovering profit drivers and performance insights across products, regions, and customer segments</a:t>
            </a:r>
            <a:endParaRPr lang="en-US" sz="1750" dirty="0">
              <a:latin typeface="Gotham" pitchFamily="50" charset="0"/>
              <a:cs typeface="Gotham" pitchFamily="50" charset="0"/>
            </a:endParaRPr>
          </a:p>
        </p:txBody>
      </p:sp>
      <p:sp>
        <p:nvSpPr>
          <p:cNvPr id="5" name="Shape 2"/>
          <p:cNvSpPr/>
          <p:nvPr/>
        </p:nvSpPr>
        <p:spPr>
          <a:xfrm>
            <a:off x="8108990" y="5812750"/>
            <a:ext cx="2127052" cy="371832"/>
          </a:xfrm>
          <a:prstGeom prst="roundRect">
            <a:avLst>
              <a:gd name="adj" fmla="val 20497"/>
            </a:avLst>
          </a:prstGeom>
          <a:solidFill>
            <a:srgbClr val="FFE0CC"/>
          </a:solidFill>
          <a:ln/>
        </p:spPr>
      </p:sp>
      <p:sp>
        <p:nvSpPr>
          <p:cNvPr id="6" name="Text 3"/>
          <p:cNvSpPr/>
          <p:nvPr/>
        </p:nvSpPr>
        <p:spPr>
          <a:xfrm>
            <a:off x="8245078" y="5880735"/>
            <a:ext cx="1854875" cy="235863"/>
          </a:xfrm>
          <a:prstGeom prst="rect">
            <a:avLst/>
          </a:prstGeom>
          <a:noFill/>
          <a:ln/>
        </p:spPr>
        <p:txBody>
          <a:bodyPr wrap="none" lIns="0" tIns="0" rIns="0" bIns="0" rtlCol="0" anchor="t"/>
          <a:lstStyle/>
          <a:p>
            <a:pPr marL="0" indent="0" algn="l">
              <a:lnSpc>
                <a:spcPts val="1850"/>
              </a:lnSpc>
              <a:buNone/>
            </a:pPr>
            <a:r>
              <a:rPr lang="en-US" sz="1400" dirty="0">
                <a:solidFill>
                  <a:srgbClr val="67534F"/>
                </a:solidFill>
                <a:latin typeface="Gotham" pitchFamily="50" charset="0"/>
                <a:ea typeface="Montserrat" pitchFamily="34" charset="-122"/>
                <a:cs typeface="Gotham" pitchFamily="50" charset="0"/>
              </a:rPr>
              <a:t>PYTHON ANALYTICS</a:t>
            </a:r>
            <a:endParaRPr lang="en-US" sz="1400" dirty="0">
              <a:latin typeface="Gotham" pitchFamily="50" charset="0"/>
              <a:cs typeface="Gotham" pitchFamily="50" charset="0"/>
            </a:endParaRPr>
          </a:p>
        </p:txBody>
      </p:sp>
      <p:sp>
        <p:nvSpPr>
          <p:cNvPr id="7" name="Shape 4"/>
          <p:cNvSpPr/>
          <p:nvPr/>
        </p:nvSpPr>
        <p:spPr>
          <a:xfrm>
            <a:off x="10349389" y="5797510"/>
            <a:ext cx="2367558" cy="402312"/>
          </a:xfrm>
          <a:prstGeom prst="roundRect">
            <a:avLst>
              <a:gd name="adj" fmla="val 18944"/>
            </a:avLst>
          </a:prstGeom>
          <a:noFill/>
          <a:ln w="15240">
            <a:solidFill>
              <a:srgbClr val="FF954F"/>
            </a:solidFill>
            <a:prstDash val="solid"/>
          </a:ln>
        </p:spPr>
      </p:sp>
      <p:sp>
        <p:nvSpPr>
          <p:cNvPr id="8" name="Text 5"/>
          <p:cNvSpPr/>
          <p:nvPr/>
        </p:nvSpPr>
        <p:spPr>
          <a:xfrm>
            <a:off x="10500717" y="5880735"/>
            <a:ext cx="2064901" cy="235863"/>
          </a:xfrm>
          <a:prstGeom prst="rect">
            <a:avLst/>
          </a:prstGeom>
          <a:noFill/>
          <a:ln/>
        </p:spPr>
        <p:txBody>
          <a:bodyPr wrap="none" lIns="0" tIns="0" rIns="0" bIns="0" rtlCol="0" anchor="t"/>
          <a:lstStyle/>
          <a:p>
            <a:pPr marL="0" indent="0" algn="l">
              <a:lnSpc>
                <a:spcPts val="1850"/>
              </a:lnSpc>
              <a:buNone/>
            </a:pPr>
            <a:r>
              <a:rPr lang="en-US" sz="1400" dirty="0">
                <a:latin typeface="Gotham" pitchFamily="50" charset="0"/>
                <a:ea typeface="Montserrat" pitchFamily="34" charset="-122"/>
                <a:cs typeface="Gotham" pitchFamily="50" charset="0"/>
              </a:rPr>
              <a:t>PANDAS, MATPLOTLIB</a:t>
            </a:r>
            <a:endParaRPr lang="en-US" sz="1400" dirty="0">
              <a:latin typeface="Gotham" pitchFamily="50" charset="0"/>
              <a:cs typeface="Gotham" pitchFamily="50" charset="0"/>
            </a:endParaRPr>
          </a:p>
        </p:txBody>
      </p:sp>
      <p:sp>
        <p:nvSpPr>
          <p:cNvPr id="9" name="Text 6"/>
          <p:cNvSpPr/>
          <p:nvPr/>
        </p:nvSpPr>
        <p:spPr>
          <a:xfrm>
            <a:off x="8108990" y="6454973"/>
            <a:ext cx="5727621" cy="294799"/>
          </a:xfrm>
          <a:prstGeom prst="rect">
            <a:avLst/>
          </a:prstGeom>
          <a:noFill/>
          <a:ln/>
        </p:spPr>
        <p:txBody>
          <a:bodyPr wrap="none" lIns="0" tIns="0" rIns="0" bIns="0" rtlCol="0" anchor="t"/>
          <a:lstStyle/>
          <a:p>
            <a:pPr marL="0" indent="0" algn="l">
              <a:lnSpc>
                <a:spcPts val="2300"/>
              </a:lnSpc>
              <a:buNone/>
            </a:pPr>
            <a:r>
              <a:rPr lang="en-US" sz="1750" b="1" dirty="0">
                <a:solidFill>
                  <a:srgbClr val="67534F"/>
                </a:solidFill>
                <a:latin typeface="Gotham" pitchFamily="50" charset="0"/>
                <a:ea typeface="Montserrat" pitchFamily="34" charset="-122"/>
                <a:cs typeface="Gotham" pitchFamily="50" charset="0"/>
              </a:rPr>
              <a:t>Debdatta Mukherjee</a:t>
            </a:r>
            <a:endParaRPr lang="en-US" sz="1750" dirty="0">
              <a:latin typeface="Gotham" pitchFamily="50" charset="0"/>
              <a:cs typeface="Gotham" pitchFamily="50" charset="0"/>
            </a:endParaRPr>
          </a:p>
        </p:txBody>
      </p:sp>
      <p:pic>
        <p:nvPicPr>
          <p:cNvPr id="11" name="Picture 10">
            <a:extLst>
              <a:ext uri="{FF2B5EF4-FFF2-40B4-BE49-F238E27FC236}">
                <a16:creationId xmlns:a16="http://schemas.microsoft.com/office/drawing/2014/main" id="{ED46F4D9-8B06-64E2-074F-D8D17534B1C0}"/>
              </a:ext>
            </a:extLst>
          </p:cNvPr>
          <p:cNvPicPr>
            <a:picLocks noChangeAspect="1"/>
          </p:cNvPicPr>
          <p:nvPr/>
        </p:nvPicPr>
        <p:blipFill>
          <a:blip r:embed="rId3"/>
          <a:stretch>
            <a:fillRect/>
          </a:stretch>
        </p:blipFill>
        <p:spPr>
          <a:xfrm>
            <a:off x="91440" y="1479828"/>
            <a:ext cx="7315200" cy="4877233"/>
          </a:xfrm>
          <a:prstGeom prst="rect">
            <a:avLst/>
          </a:prstGeom>
        </p:spPr>
      </p:pic>
      <p:sp>
        <p:nvSpPr>
          <p:cNvPr id="12" name="Rectangle 11">
            <a:extLst>
              <a:ext uri="{FF2B5EF4-FFF2-40B4-BE49-F238E27FC236}">
                <a16:creationId xmlns:a16="http://schemas.microsoft.com/office/drawing/2014/main" id="{5FBB3ED9-CAC9-162C-A410-AB8A0C97FD1D}"/>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21437"/>
            <a:ext cx="8662392" cy="847725"/>
          </a:xfrm>
          <a:prstGeom prst="rect">
            <a:avLst/>
          </a:prstGeom>
          <a:noFill/>
          <a:ln/>
        </p:spPr>
        <p:txBody>
          <a:bodyPr wrap="none" lIns="0" tIns="0" rIns="0" bIns="0" rtlCol="0" anchor="t"/>
          <a:lstStyle/>
          <a:p>
            <a:pPr marL="0" indent="0" algn="l">
              <a:lnSpc>
                <a:spcPts val="6650"/>
              </a:lnSpc>
              <a:buNone/>
            </a:pPr>
            <a:r>
              <a:rPr lang="en-US" sz="5100" dirty="0">
                <a:solidFill>
                  <a:srgbClr val="532418"/>
                </a:solidFill>
                <a:latin typeface="Gotham Black" pitchFamily="50" charset="0"/>
                <a:ea typeface="Marcellus" pitchFamily="34" charset="-122"/>
                <a:cs typeface="Gotham Black" pitchFamily="50" charset="0"/>
              </a:rPr>
              <a:t>Business Problem &amp; Objective</a:t>
            </a:r>
            <a:endParaRPr lang="en-US" sz="5100" dirty="0">
              <a:latin typeface="Gotham Black" pitchFamily="50" charset="0"/>
              <a:cs typeface="Gotham Black" pitchFamily="50" charset="0"/>
            </a:endParaRPr>
          </a:p>
        </p:txBody>
      </p:sp>
      <p:sp>
        <p:nvSpPr>
          <p:cNvPr id="3" name="Text 1"/>
          <p:cNvSpPr/>
          <p:nvPr/>
        </p:nvSpPr>
        <p:spPr>
          <a:xfrm>
            <a:off x="793790" y="2436138"/>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532418"/>
                </a:solidFill>
                <a:latin typeface="Gotham" pitchFamily="50" charset="0"/>
                <a:ea typeface="Marcellus" pitchFamily="34" charset="-122"/>
                <a:cs typeface="Gotham" pitchFamily="50" charset="0"/>
              </a:rPr>
              <a:t>The Challenge</a:t>
            </a:r>
            <a:endParaRPr lang="en-US" sz="2550" dirty="0">
              <a:latin typeface="Gotham" pitchFamily="50" charset="0"/>
              <a:cs typeface="Gotham" pitchFamily="50" charset="0"/>
            </a:endParaRPr>
          </a:p>
        </p:txBody>
      </p:sp>
      <p:sp>
        <p:nvSpPr>
          <p:cNvPr id="4" name="Text 2"/>
          <p:cNvSpPr/>
          <p:nvPr/>
        </p:nvSpPr>
        <p:spPr>
          <a:xfrm>
            <a:off x="793790" y="3086814"/>
            <a:ext cx="5564862" cy="1768793"/>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Gotham" pitchFamily="50" charset="0"/>
                <a:ea typeface="Montserrat" pitchFamily="34" charset="-122"/>
                <a:cs typeface="Gotham" pitchFamily="50" charset="0"/>
              </a:rPr>
              <a:t>Despite steady sales growth, UrbanCart Superstore faces inconsistent profitability across product categories, regions, and customer segments. The business requires actionable insights to identify profit drivers and margin leakages for sustainable growth.</a:t>
            </a:r>
            <a:endParaRPr lang="en-US" sz="1750" dirty="0">
              <a:latin typeface="Gotham" pitchFamily="50" charset="0"/>
              <a:cs typeface="Gotham" pitchFamily="50" charset="0"/>
            </a:endParaRPr>
          </a:p>
        </p:txBody>
      </p:sp>
      <p:sp>
        <p:nvSpPr>
          <p:cNvPr id="5" name="Text 3"/>
          <p:cNvSpPr/>
          <p:nvPr/>
        </p:nvSpPr>
        <p:spPr>
          <a:xfrm>
            <a:off x="6919674" y="2436138"/>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532418"/>
                </a:solidFill>
                <a:latin typeface="Gotham" pitchFamily="50" charset="0"/>
                <a:ea typeface="Marcellus" pitchFamily="34" charset="-122"/>
                <a:cs typeface="Gotham" pitchFamily="50" charset="0"/>
              </a:rPr>
              <a:t>Our Approach</a:t>
            </a:r>
            <a:endParaRPr lang="en-US" sz="2550" dirty="0">
              <a:latin typeface="Gotham" pitchFamily="50" charset="0"/>
              <a:cs typeface="Gotham" pitchFamily="50" charset="0"/>
            </a:endParaRPr>
          </a:p>
        </p:txBody>
      </p:sp>
      <p:sp>
        <p:nvSpPr>
          <p:cNvPr id="6" name="Text 4"/>
          <p:cNvSpPr/>
          <p:nvPr/>
        </p:nvSpPr>
        <p:spPr>
          <a:xfrm>
            <a:off x="6919674" y="3086814"/>
            <a:ext cx="6924437" cy="589598"/>
          </a:xfrm>
          <a:prstGeom prst="rect">
            <a:avLst/>
          </a:prstGeom>
          <a:noFill/>
          <a:ln/>
        </p:spPr>
        <p:txBody>
          <a:bodyPr wrap="square" lIns="0" tIns="0" rIns="0" bIns="0" rtlCol="0" anchor="t"/>
          <a:lstStyle/>
          <a:p>
            <a:pPr marL="342900" indent="-342900" algn="l">
              <a:lnSpc>
                <a:spcPts val="2300"/>
              </a:lnSpc>
              <a:buSzPct val="100000"/>
              <a:buChar char="•"/>
            </a:pPr>
            <a:r>
              <a:rPr lang="en-US" sz="1750" dirty="0">
                <a:solidFill>
                  <a:srgbClr val="67534F"/>
                </a:solidFill>
                <a:latin typeface="Gotham" pitchFamily="50" charset="0"/>
                <a:ea typeface="Montserrat" pitchFamily="34" charset="-122"/>
                <a:cs typeface="Gotham" pitchFamily="50" charset="0"/>
              </a:rPr>
              <a:t>Analyze retail sales data to understand business performance patterns</a:t>
            </a:r>
            <a:endParaRPr lang="en-US" sz="1750" dirty="0">
              <a:latin typeface="Gotham" pitchFamily="50" charset="0"/>
              <a:cs typeface="Gotham" pitchFamily="50" charset="0"/>
            </a:endParaRPr>
          </a:p>
        </p:txBody>
      </p:sp>
      <p:sp>
        <p:nvSpPr>
          <p:cNvPr id="7" name="Text 5"/>
          <p:cNvSpPr/>
          <p:nvPr/>
        </p:nvSpPr>
        <p:spPr>
          <a:xfrm>
            <a:off x="6919674" y="3755708"/>
            <a:ext cx="6924437" cy="294799"/>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Gotham" pitchFamily="50" charset="0"/>
                <a:ea typeface="Montserrat" pitchFamily="34" charset="-122"/>
                <a:cs typeface="Gotham" pitchFamily="50" charset="0"/>
              </a:rPr>
              <a:t>Identify revenue, profit, and loss trends across dimensions</a:t>
            </a:r>
            <a:endParaRPr lang="en-US" sz="1750" dirty="0">
              <a:latin typeface="Gotham" pitchFamily="50" charset="0"/>
              <a:cs typeface="Gotham" pitchFamily="50" charset="0"/>
            </a:endParaRPr>
          </a:p>
        </p:txBody>
      </p:sp>
      <p:sp>
        <p:nvSpPr>
          <p:cNvPr id="8" name="Text 6"/>
          <p:cNvSpPr/>
          <p:nvPr/>
        </p:nvSpPr>
        <p:spPr>
          <a:xfrm>
            <a:off x="6919674" y="4129802"/>
            <a:ext cx="6924437" cy="589598"/>
          </a:xfrm>
          <a:prstGeom prst="rect">
            <a:avLst/>
          </a:prstGeom>
          <a:noFill/>
          <a:ln/>
        </p:spPr>
        <p:txBody>
          <a:bodyPr wrap="square" lIns="0" tIns="0" rIns="0" bIns="0" rtlCol="0" anchor="t"/>
          <a:lstStyle/>
          <a:p>
            <a:pPr marL="342900" indent="-342900" algn="l">
              <a:lnSpc>
                <a:spcPts val="2300"/>
              </a:lnSpc>
              <a:buSzPct val="100000"/>
              <a:buChar char="•"/>
            </a:pPr>
            <a:r>
              <a:rPr lang="en-US" sz="1750" dirty="0">
                <a:solidFill>
                  <a:srgbClr val="67534F"/>
                </a:solidFill>
                <a:latin typeface="Gotham" pitchFamily="50" charset="0"/>
                <a:ea typeface="Montserrat" pitchFamily="34" charset="-122"/>
                <a:cs typeface="Gotham" pitchFamily="50" charset="0"/>
              </a:rPr>
              <a:t>Compare performance across regions, categories, and customer segments</a:t>
            </a:r>
            <a:endParaRPr lang="en-US" sz="1750" dirty="0">
              <a:latin typeface="Gotham" pitchFamily="50" charset="0"/>
              <a:cs typeface="Gotham" pitchFamily="50" charset="0"/>
            </a:endParaRPr>
          </a:p>
        </p:txBody>
      </p:sp>
      <p:sp>
        <p:nvSpPr>
          <p:cNvPr id="9" name="Text 7"/>
          <p:cNvSpPr/>
          <p:nvPr/>
        </p:nvSpPr>
        <p:spPr>
          <a:xfrm>
            <a:off x="6919674" y="4798695"/>
            <a:ext cx="6924437" cy="589598"/>
          </a:xfrm>
          <a:prstGeom prst="rect">
            <a:avLst/>
          </a:prstGeom>
          <a:noFill/>
          <a:ln/>
        </p:spPr>
        <p:txBody>
          <a:bodyPr wrap="square" lIns="0" tIns="0" rIns="0" bIns="0" rtlCol="0" anchor="t"/>
          <a:lstStyle/>
          <a:p>
            <a:pPr marL="342900" indent="-342900" algn="l">
              <a:lnSpc>
                <a:spcPts val="2300"/>
              </a:lnSpc>
              <a:buSzPct val="100000"/>
              <a:buChar char="•"/>
            </a:pPr>
            <a:r>
              <a:rPr lang="en-US" sz="1750" dirty="0">
                <a:solidFill>
                  <a:srgbClr val="67534F"/>
                </a:solidFill>
                <a:latin typeface="Gotham" pitchFamily="50" charset="0"/>
                <a:ea typeface="Montserrat" pitchFamily="34" charset="-122"/>
                <a:cs typeface="Gotham" pitchFamily="50" charset="0"/>
              </a:rPr>
              <a:t>Deliver data-driven recommendations for strategic decision-making</a:t>
            </a:r>
            <a:endParaRPr lang="en-US" sz="1750" dirty="0">
              <a:latin typeface="Gotham" pitchFamily="50" charset="0"/>
              <a:cs typeface="Gotham" pitchFamily="50" charset="0"/>
            </a:endParaRPr>
          </a:p>
        </p:txBody>
      </p:sp>
      <p:sp>
        <p:nvSpPr>
          <p:cNvPr id="10" name="Shape 8"/>
          <p:cNvSpPr/>
          <p:nvPr/>
        </p:nvSpPr>
        <p:spPr>
          <a:xfrm>
            <a:off x="793790" y="5722739"/>
            <a:ext cx="13042821" cy="1485305"/>
          </a:xfrm>
          <a:prstGeom prst="roundRect">
            <a:avLst>
              <a:gd name="adj" fmla="val 6414"/>
            </a:avLst>
          </a:prstGeom>
          <a:solidFill>
            <a:srgbClr val="FFD1B3"/>
          </a:solidFill>
          <a:ln/>
        </p:spPr>
      </p:sp>
      <p:pic>
        <p:nvPicPr>
          <p:cNvPr id="11" name="Image 0" descr="preencoded.png"/>
          <p:cNvPicPr>
            <a:picLocks noChangeAspect="1"/>
          </p:cNvPicPr>
          <p:nvPr/>
        </p:nvPicPr>
        <p:blipFill>
          <a:blip r:embed="rId3"/>
          <a:stretch>
            <a:fillRect/>
          </a:stretch>
        </p:blipFill>
        <p:spPr>
          <a:xfrm>
            <a:off x="1020604" y="6036350"/>
            <a:ext cx="283488" cy="226814"/>
          </a:xfrm>
          <a:prstGeom prst="rect">
            <a:avLst/>
          </a:prstGeom>
        </p:spPr>
      </p:pic>
      <p:sp>
        <p:nvSpPr>
          <p:cNvPr id="12" name="Text 9"/>
          <p:cNvSpPr/>
          <p:nvPr/>
        </p:nvSpPr>
        <p:spPr>
          <a:xfrm>
            <a:off x="1530906" y="6006227"/>
            <a:ext cx="12078891" cy="884396"/>
          </a:xfrm>
          <a:prstGeom prst="rect">
            <a:avLst/>
          </a:prstGeom>
          <a:noFill/>
          <a:ln/>
        </p:spPr>
        <p:txBody>
          <a:bodyPr wrap="square" lIns="0" tIns="0" rIns="0" bIns="0" rtlCol="0" anchor="t"/>
          <a:lstStyle/>
          <a:p>
            <a:pPr marL="0" indent="0" algn="l">
              <a:lnSpc>
                <a:spcPts val="2300"/>
              </a:lnSpc>
              <a:buNone/>
            </a:pPr>
            <a:r>
              <a:rPr lang="en-US" sz="1750" dirty="0">
                <a:solidFill>
                  <a:srgbClr val="000000"/>
                </a:solidFill>
                <a:latin typeface="Gotham" pitchFamily="50" charset="0"/>
                <a:ea typeface="Montserrat" pitchFamily="34" charset="-122"/>
                <a:cs typeface="Gotham" pitchFamily="50" charset="0"/>
              </a:rPr>
              <a:t>This dataset contains cleaned retail transaction data where each row represents an individual order line item, including product details, customer segments, geographic regions, sales metrics, profit, discounts, and shipping modes.</a:t>
            </a:r>
            <a:endParaRPr lang="en-US" sz="1750" dirty="0">
              <a:latin typeface="Gotham" pitchFamily="50" charset="0"/>
              <a:cs typeface="Gotham" pitchFamily="50" charset="0"/>
            </a:endParaRPr>
          </a:p>
        </p:txBody>
      </p:sp>
      <p:sp>
        <p:nvSpPr>
          <p:cNvPr id="13" name="Rectangle 12">
            <a:extLst>
              <a:ext uri="{FF2B5EF4-FFF2-40B4-BE49-F238E27FC236}">
                <a16:creationId xmlns:a16="http://schemas.microsoft.com/office/drawing/2014/main" id="{82F68865-5AD8-856E-C6BC-EEDE0BF633A4}"/>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0932" y="622340"/>
            <a:ext cx="6172319" cy="802362"/>
          </a:xfrm>
          <a:prstGeom prst="rect">
            <a:avLst/>
          </a:prstGeom>
          <a:noFill/>
          <a:ln/>
        </p:spPr>
        <p:txBody>
          <a:bodyPr wrap="none" lIns="0" tIns="0" rIns="0" bIns="0" rtlCol="0" anchor="t"/>
          <a:lstStyle/>
          <a:p>
            <a:pPr marL="0" indent="0" algn="l">
              <a:lnSpc>
                <a:spcPts val="6300"/>
              </a:lnSpc>
              <a:buNone/>
            </a:pPr>
            <a:r>
              <a:rPr lang="en-US" sz="4850" dirty="0">
                <a:solidFill>
                  <a:srgbClr val="532418"/>
                </a:solidFill>
                <a:latin typeface="Gotham Black" pitchFamily="50" charset="0"/>
                <a:ea typeface="Marcellus" pitchFamily="34" charset="-122"/>
                <a:cs typeface="Gotham Black" pitchFamily="50" charset="0"/>
              </a:rPr>
              <a:t>Dataset Overview</a:t>
            </a:r>
            <a:endParaRPr lang="en-US" sz="4850" dirty="0">
              <a:latin typeface="Gotham Black" pitchFamily="50" charset="0"/>
              <a:cs typeface="Gotham Black" pitchFamily="50" charset="0"/>
            </a:endParaRPr>
          </a:p>
        </p:txBody>
      </p:sp>
      <p:sp>
        <p:nvSpPr>
          <p:cNvPr id="3" name="Shape 1"/>
          <p:cNvSpPr/>
          <p:nvPr/>
        </p:nvSpPr>
        <p:spPr>
          <a:xfrm>
            <a:off x="790932" y="1832610"/>
            <a:ext cx="6422231" cy="1270516"/>
          </a:xfrm>
          <a:prstGeom prst="roundRect">
            <a:avLst>
              <a:gd name="adj" fmla="val 7097"/>
            </a:avLst>
          </a:prstGeom>
          <a:solidFill>
            <a:srgbClr val="FFFFF4"/>
          </a:solidFill>
          <a:ln w="22860">
            <a:solidFill>
              <a:srgbClr val="FFE0CC"/>
            </a:solidFill>
            <a:prstDash val="solid"/>
          </a:ln>
        </p:spPr>
      </p:sp>
      <p:sp>
        <p:nvSpPr>
          <p:cNvPr id="4" name="Text 2"/>
          <p:cNvSpPr/>
          <p:nvPr/>
        </p:nvSpPr>
        <p:spPr>
          <a:xfrm>
            <a:off x="1028462" y="2070140"/>
            <a:ext cx="3086100" cy="401122"/>
          </a:xfrm>
          <a:prstGeom prst="rect">
            <a:avLst/>
          </a:prstGeom>
          <a:noFill/>
          <a:ln/>
        </p:spPr>
        <p:txBody>
          <a:bodyPr wrap="none" lIns="0" tIns="0" rIns="0" bIns="0" rtlCol="0" anchor="t"/>
          <a:lstStyle/>
          <a:p>
            <a:pPr marL="0" indent="0" algn="l">
              <a:lnSpc>
                <a:spcPts val="3150"/>
              </a:lnSpc>
              <a:buNone/>
            </a:pPr>
            <a:r>
              <a:rPr lang="en-US" sz="2400" dirty="0">
                <a:solidFill>
                  <a:srgbClr val="67534F"/>
                </a:solidFill>
                <a:latin typeface="Gotham" pitchFamily="50" charset="0"/>
                <a:ea typeface="Marcellus" pitchFamily="34" charset="-122"/>
                <a:cs typeface="Gotham" pitchFamily="50" charset="0"/>
              </a:rPr>
              <a:t>Data Source</a:t>
            </a:r>
            <a:endParaRPr lang="en-US" sz="2400" dirty="0">
              <a:latin typeface="Gotham" pitchFamily="50" charset="0"/>
              <a:cs typeface="Gotham" pitchFamily="50" charset="0"/>
            </a:endParaRPr>
          </a:p>
        </p:txBody>
      </p:sp>
      <p:sp>
        <p:nvSpPr>
          <p:cNvPr id="5" name="Text 3"/>
          <p:cNvSpPr/>
          <p:nvPr/>
        </p:nvSpPr>
        <p:spPr>
          <a:xfrm>
            <a:off x="1028462" y="2593538"/>
            <a:ext cx="5947172" cy="272058"/>
          </a:xfrm>
          <a:prstGeom prst="rect">
            <a:avLst/>
          </a:prstGeom>
          <a:noFill/>
          <a:ln/>
        </p:spPr>
        <p:txBody>
          <a:bodyPr wrap="none" lIns="0" tIns="0" rIns="0" bIns="0" rtlCol="0" anchor="t"/>
          <a:lstStyle/>
          <a:p>
            <a:pPr marL="0" indent="0" algn="l">
              <a:lnSpc>
                <a:spcPts val="2100"/>
              </a:lnSpc>
              <a:buNone/>
            </a:pPr>
            <a:r>
              <a:rPr lang="en-US" sz="1650" dirty="0">
                <a:solidFill>
                  <a:srgbClr val="67534F"/>
                </a:solidFill>
                <a:latin typeface="Gotham" pitchFamily="50" charset="0"/>
                <a:ea typeface="Montserrat" pitchFamily="34" charset="-122"/>
                <a:cs typeface="Gotham" pitchFamily="50" charset="0"/>
              </a:rPr>
              <a:t>Dataset downloaded from GitHub repository</a:t>
            </a:r>
            <a:endParaRPr lang="en-US" sz="1650" dirty="0">
              <a:latin typeface="Gotham" pitchFamily="50" charset="0"/>
              <a:cs typeface="Gotham" pitchFamily="50" charset="0"/>
            </a:endParaRPr>
          </a:p>
        </p:txBody>
      </p:sp>
      <p:sp>
        <p:nvSpPr>
          <p:cNvPr id="6" name="Shape 4"/>
          <p:cNvSpPr/>
          <p:nvPr/>
        </p:nvSpPr>
        <p:spPr>
          <a:xfrm>
            <a:off x="7417118" y="1832610"/>
            <a:ext cx="6422350" cy="1270516"/>
          </a:xfrm>
          <a:prstGeom prst="roundRect">
            <a:avLst>
              <a:gd name="adj" fmla="val 7097"/>
            </a:avLst>
          </a:prstGeom>
          <a:solidFill>
            <a:srgbClr val="FFFFF4"/>
          </a:solidFill>
          <a:ln w="22860">
            <a:solidFill>
              <a:srgbClr val="FFE0CC"/>
            </a:solidFill>
            <a:prstDash val="solid"/>
          </a:ln>
        </p:spPr>
      </p:sp>
      <p:sp>
        <p:nvSpPr>
          <p:cNvPr id="7" name="Text 5"/>
          <p:cNvSpPr/>
          <p:nvPr/>
        </p:nvSpPr>
        <p:spPr>
          <a:xfrm>
            <a:off x="7654647" y="2070140"/>
            <a:ext cx="3086100" cy="401122"/>
          </a:xfrm>
          <a:prstGeom prst="rect">
            <a:avLst/>
          </a:prstGeom>
          <a:noFill/>
          <a:ln/>
        </p:spPr>
        <p:txBody>
          <a:bodyPr wrap="none" lIns="0" tIns="0" rIns="0" bIns="0" rtlCol="0" anchor="t"/>
          <a:lstStyle/>
          <a:p>
            <a:pPr marL="0" indent="0" algn="l">
              <a:lnSpc>
                <a:spcPts val="3150"/>
              </a:lnSpc>
              <a:buNone/>
            </a:pPr>
            <a:r>
              <a:rPr lang="en-US" sz="2400" dirty="0">
                <a:solidFill>
                  <a:srgbClr val="67534F"/>
                </a:solidFill>
                <a:latin typeface="Gotham" pitchFamily="50" charset="0"/>
                <a:ea typeface="Marcellus" pitchFamily="34" charset="-122"/>
                <a:cs typeface="Gotham" pitchFamily="50" charset="0"/>
              </a:rPr>
              <a:t>Volume</a:t>
            </a:r>
            <a:endParaRPr lang="en-US" sz="2400" dirty="0">
              <a:latin typeface="Gotham" pitchFamily="50" charset="0"/>
              <a:cs typeface="Gotham" pitchFamily="50" charset="0"/>
            </a:endParaRPr>
          </a:p>
        </p:txBody>
      </p:sp>
      <p:sp>
        <p:nvSpPr>
          <p:cNvPr id="8" name="Text 6"/>
          <p:cNvSpPr/>
          <p:nvPr/>
        </p:nvSpPr>
        <p:spPr>
          <a:xfrm>
            <a:off x="7654647" y="2593538"/>
            <a:ext cx="5947291"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Gotham" pitchFamily="50" charset="0"/>
                <a:ea typeface="Montserrat" pitchFamily="34" charset="-122"/>
                <a:cs typeface="Gotham" pitchFamily="50" charset="0"/>
              </a:rPr>
              <a:t>9,994</a:t>
            </a:r>
            <a:r>
              <a:rPr lang="en-US" sz="1650" dirty="0">
                <a:solidFill>
                  <a:srgbClr val="67534F"/>
                </a:solidFill>
                <a:latin typeface="Gotham" pitchFamily="50" charset="0"/>
                <a:ea typeface="Montserrat" pitchFamily="34" charset="-122"/>
                <a:cs typeface="Gotham" pitchFamily="50" charset="0"/>
              </a:rPr>
              <a:t> transaction records across </a:t>
            </a:r>
            <a:r>
              <a:rPr lang="en-US" sz="1650" b="1" dirty="0">
                <a:solidFill>
                  <a:srgbClr val="67534F"/>
                </a:solidFill>
                <a:latin typeface="Gotham" pitchFamily="50" charset="0"/>
                <a:ea typeface="Montserrat" pitchFamily="34" charset="-122"/>
                <a:cs typeface="Gotham" pitchFamily="50" charset="0"/>
              </a:rPr>
              <a:t>25</a:t>
            </a:r>
            <a:r>
              <a:rPr lang="en-US" sz="1650" dirty="0">
                <a:solidFill>
                  <a:srgbClr val="67534F"/>
                </a:solidFill>
                <a:latin typeface="Gotham" pitchFamily="50" charset="0"/>
                <a:ea typeface="Montserrat" pitchFamily="34" charset="-122"/>
                <a:cs typeface="Gotham" pitchFamily="50" charset="0"/>
              </a:rPr>
              <a:t> data columns</a:t>
            </a:r>
            <a:endParaRPr lang="en-US" sz="1650" dirty="0">
              <a:latin typeface="Gotham" pitchFamily="50" charset="0"/>
              <a:cs typeface="Gotham" pitchFamily="50" charset="0"/>
            </a:endParaRPr>
          </a:p>
        </p:txBody>
      </p:sp>
      <p:sp>
        <p:nvSpPr>
          <p:cNvPr id="9" name="Text 7"/>
          <p:cNvSpPr/>
          <p:nvPr/>
        </p:nvSpPr>
        <p:spPr>
          <a:xfrm>
            <a:off x="790932" y="3408998"/>
            <a:ext cx="4274582" cy="401122"/>
          </a:xfrm>
          <a:prstGeom prst="rect">
            <a:avLst/>
          </a:prstGeom>
          <a:noFill/>
          <a:ln/>
        </p:spPr>
        <p:txBody>
          <a:bodyPr wrap="none" lIns="0" tIns="0" rIns="0" bIns="0" rtlCol="0" anchor="t"/>
          <a:lstStyle/>
          <a:p>
            <a:pPr marL="0" indent="0" algn="l">
              <a:lnSpc>
                <a:spcPts val="3150"/>
              </a:lnSpc>
              <a:buNone/>
            </a:pPr>
            <a:r>
              <a:rPr lang="en-US" sz="2400" dirty="0">
                <a:solidFill>
                  <a:srgbClr val="532418"/>
                </a:solidFill>
                <a:latin typeface="Gotham" pitchFamily="50" charset="0"/>
                <a:ea typeface="Marcellus" pitchFamily="34" charset="-122"/>
                <a:cs typeface="Gotham" pitchFamily="50" charset="0"/>
              </a:rPr>
              <a:t>Data Structure &amp; Key Columns</a:t>
            </a:r>
            <a:endParaRPr lang="en-US" sz="2400" dirty="0">
              <a:latin typeface="Gotham" pitchFamily="50" charset="0"/>
              <a:cs typeface="Gotham" pitchFamily="50" charset="0"/>
            </a:endParaRPr>
          </a:p>
        </p:txBody>
      </p:sp>
      <p:sp>
        <p:nvSpPr>
          <p:cNvPr id="10" name="Text 8"/>
          <p:cNvSpPr/>
          <p:nvPr/>
        </p:nvSpPr>
        <p:spPr>
          <a:xfrm>
            <a:off x="790932" y="4299466"/>
            <a:ext cx="6262449"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Gotham" pitchFamily="50" charset="0"/>
                <a:ea typeface="Montserrat" pitchFamily="34" charset="-122"/>
                <a:cs typeface="Gotham" pitchFamily="50" charset="0"/>
              </a:rPr>
              <a:t>Order Information:</a:t>
            </a:r>
            <a:endParaRPr lang="en-US" sz="1650" dirty="0">
              <a:latin typeface="Gotham" pitchFamily="50" charset="0"/>
              <a:cs typeface="Gotham" pitchFamily="50" charset="0"/>
            </a:endParaRPr>
          </a:p>
        </p:txBody>
      </p:sp>
      <p:sp>
        <p:nvSpPr>
          <p:cNvPr id="11" name="Text 9"/>
          <p:cNvSpPr/>
          <p:nvPr/>
        </p:nvSpPr>
        <p:spPr>
          <a:xfrm>
            <a:off x="790932" y="4754999"/>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Gotham" pitchFamily="50" charset="0"/>
                <a:ea typeface="Montserrat" pitchFamily="34" charset="-122"/>
                <a:cs typeface="Gotham" pitchFamily="50" charset="0"/>
              </a:rPr>
              <a:t>Row ID, Order ID, Order Date, Ship Date</a:t>
            </a:r>
            <a:endParaRPr lang="en-US" sz="1650" dirty="0">
              <a:latin typeface="Gotham" pitchFamily="50" charset="0"/>
              <a:cs typeface="Gotham" pitchFamily="50" charset="0"/>
            </a:endParaRPr>
          </a:p>
        </p:txBody>
      </p:sp>
      <p:sp>
        <p:nvSpPr>
          <p:cNvPr id="12" name="Text 10"/>
          <p:cNvSpPr/>
          <p:nvPr/>
        </p:nvSpPr>
        <p:spPr>
          <a:xfrm>
            <a:off x="790932" y="5098375"/>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Gotham" pitchFamily="50" charset="0"/>
                <a:ea typeface="Montserrat" pitchFamily="34" charset="-122"/>
                <a:cs typeface="Gotham" pitchFamily="50" charset="0"/>
              </a:rPr>
              <a:t>Delivery Days, Ship Mode</a:t>
            </a:r>
            <a:endParaRPr lang="en-US" sz="1650" dirty="0">
              <a:latin typeface="Gotham" pitchFamily="50" charset="0"/>
              <a:cs typeface="Gotham" pitchFamily="50" charset="0"/>
            </a:endParaRPr>
          </a:p>
        </p:txBody>
      </p:sp>
      <p:sp>
        <p:nvSpPr>
          <p:cNvPr id="13" name="Text 11"/>
          <p:cNvSpPr/>
          <p:nvPr/>
        </p:nvSpPr>
        <p:spPr>
          <a:xfrm>
            <a:off x="790932" y="5553908"/>
            <a:ext cx="6262449"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Gotham" pitchFamily="50" charset="0"/>
                <a:ea typeface="Montserrat" pitchFamily="34" charset="-122"/>
                <a:cs typeface="Gotham" pitchFamily="50" charset="0"/>
              </a:rPr>
              <a:t>Customer Details:</a:t>
            </a:r>
            <a:endParaRPr lang="en-US" sz="1650" dirty="0">
              <a:latin typeface="Gotham" pitchFamily="50" charset="0"/>
              <a:cs typeface="Gotham" pitchFamily="50" charset="0"/>
            </a:endParaRPr>
          </a:p>
        </p:txBody>
      </p:sp>
      <p:sp>
        <p:nvSpPr>
          <p:cNvPr id="14" name="Text 12"/>
          <p:cNvSpPr/>
          <p:nvPr/>
        </p:nvSpPr>
        <p:spPr>
          <a:xfrm>
            <a:off x="790932" y="6009442"/>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Gotham" pitchFamily="50" charset="0"/>
                <a:ea typeface="Montserrat" pitchFamily="34" charset="-122"/>
                <a:cs typeface="Gotham" pitchFamily="50" charset="0"/>
              </a:rPr>
              <a:t>Customer ID, Customer Name, Segment</a:t>
            </a:r>
            <a:endParaRPr lang="en-US" sz="1650" dirty="0">
              <a:latin typeface="Gotham" pitchFamily="50" charset="0"/>
              <a:cs typeface="Gotham" pitchFamily="50" charset="0"/>
            </a:endParaRPr>
          </a:p>
        </p:txBody>
      </p:sp>
      <p:sp>
        <p:nvSpPr>
          <p:cNvPr id="15" name="Text 13"/>
          <p:cNvSpPr/>
          <p:nvPr/>
        </p:nvSpPr>
        <p:spPr>
          <a:xfrm>
            <a:off x="790932" y="6464975"/>
            <a:ext cx="6262449"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Gotham" pitchFamily="50" charset="0"/>
                <a:ea typeface="Montserrat" pitchFamily="34" charset="-122"/>
                <a:cs typeface="Gotham" pitchFamily="50" charset="0"/>
              </a:rPr>
              <a:t>Geographic Data:</a:t>
            </a:r>
            <a:endParaRPr lang="en-US" sz="1650" dirty="0">
              <a:latin typeface="Gotham" pitchFamily="50" charset="0"/>
              <a:cs typeface="Gotham" pitchFamily="50" charset="0"/>
            </a:endParaRPr>
          </a:p>
        </p:txBody>
      </p:sp>
      <p:sp>
        <p:nvSpPr>
          <p:cNvPr id="16" name="Text 14"/>
          <p:cNvSpPr/>
          <p:nvPr/>
        </p:nvSpPr>
        <p:spPr>
          <a:xfrm>
            <a:off x="790932" y="6920508"/>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Gotham" pitchFamily="50" charset="0"/>
                <a:ea typeface="Montserrat" pitchFamily="34" charset="-122"/>
                <a:cs typeface="Gotham" pitchFamily="50" charset="0"/>
              </a:rPr>
              <a:t>Country, City, State, Postal Code, Region</a:t>
            </a:r>
            <a:endParaRPr lang="en-US" sz="1650" dirty="0">
              <a:latin typeface="Gotham" pitchFamily="50" charset="0"/>
              <a:cs typeface="Gotham" pitchFamily="50" charset="0"/>
            </a:endParaRPr>
          </a:p>
        </p:txBody>
      </p:sp>
      <p:sp>
        <p:nvSpPr>
          <p:cNvPr id="17" name="Text 15"/>
          <p:cNvSpPr/>
          <p:nvPr/>
        </p:nvSpPr>
        <p:spPr>
          <a:xfrm>
            <a:off x="7584638" y="4299466"/>
            <a:ext cx="6262449"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Montserrat" pitchFamily="34" charset="0"/>
                <a:ea typeface="Montserrat" pitchFamily="34" charset="-122"/>
                <a:cs typeface="Montserrat" pitchFamily="34" charset="-120"/>
              </a:rPr>
              <a:t>Product Information:</a:t>
            </a:r>
            <a:endParaRPr lang="en-US" sz="1650" dirty="0"/>
          </a:p>
        </p:txBody>
      </p:sp>
      <p:sp>
        <p:nvSpPr>
          <p:cNvPr id="18" name="Text 16"/>
          <p:cNvSpPr/>
          <p:nvPr/>
        </p:nvSpPr>
        <p:spPr>
          <a:xfrm>
            <a:off x="7584638" y="4754999"/>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Montserrat" pitchFamily="34" charset="0"/>
                <a:ea typeface="Montserrat" pitchFamily="34" charset="-122"/>
                <a:cs typeface="Montserrat" pitchFamily="34" charset="-120"/>
              </a:rPr>
              <a:t>Product ID, Category, Sub-Category</a:t>
            </a:r>
            <a:endParaRPr lang="en-US" sz="1650" dirty="0"/>
          </a:p>
        </p:txBody>
      </p:sp>
      <p:sp>
        <p:nvSpPr>
          <p:cNvPr id="19" name="Text 17"/>
          <p:cNvSpPr/>
          <p:nvPr/>
        </p:nvSpPr>
        <p:spPr>
          <a:xfrm>
            <a:off x="7584638" y="5098375"/>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Montserrat" pitchFamily="34" charset="0"/>
                <a:ea typeface="Montserrat" pitchFamily="34" charset="-122"/>
                <a:cs typeface="Montserrat" pitchFamily="34" charset="-120"/>
              </a:rPr>
              <a:t>Product Name</a:t>
            </a:r>
            <a:endParaRPr lang="en-US" sz="1650" dirty="0"/>
          </a:p>
        </p:txBody>
      </p:sp>
      <p:sp>
        <p:nvSpPr>
          <p:cNvPr id="20" name="Text 18"/>
          <p:cNvSpPr/>
          <p:nvPr/>
        </p:nvSpPr>
        <p:spPr>
          <a:xfrm>
            <a:off x="7584638" y="5553908"/>
            <a:ext cx="6262449"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Montserrat" pitchFamily="34" charset="0"/>
                <a:ea typeface="Montserrat" pitchFamily="34" charset="-122"/>
                <a:cs typeface="Montserrat" pitchFamily="34" charset="-120"/>
              </a:rPr>
              <a:t>Financial Metrics:</a:t>
            </a:r>
            <a:endParaRPr lang="en-US" sz="1650" dirty="0"/>
          </a:p>
        </p:txBody>
      </p:sp>
      <p:sp>
        <p:nvSpPr>
          <p:cNvPr id="21" name="Text 19"/>
          <p:cNvSpPr/>
          <p:nvPr/>
        </p:nvSpPr>
        <p:spPr>
          <a:xfrm>
            <a:off x="7584638" y="6009442"/>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Montserrat" pitchFamily="34" charset="0"/>
                <a:ea typeface="Montserrat" pitchFamily="34" charset="-122"/>
                <a:cs typeface="Montserrat" pitchFamily="34" charset="-120"/>
              </a:rPr>
              <a:t>Sales, Quantity, Discount, Profit</a:t>
            </a:r>
            <a:endParaRPr lang="en-US" sz="1650" dirty="0"/>
          </a:p>
        </p:txBody>
      </p:sp>
      <p:sp>
        <p:nvSpPr>
          <p:cNvPr id="22" name="Text 20"/>
          <p:cNvSpPr/>
          <p:nvPr/>
        </p:nvSpPr>
        <p:spPr>
          <a:xfrm>
            <a:off x="7584638" y="6352818"/>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Montserrat" pitchFamily="34" charset="0"/>
                <a:ea typeface="Montserrat" pitchFamily="34" charset="-122"/>
                <a:cs typeface="Montserrat" pitchFamily="34" charset="-120"/>
              </a:rPr>
              <a:t>Profit Margin</a:t>
            </a:r>
            <a:endParaRPr lang="en-US" sz="1650" dirty="0"/>
          </a:p>
        </p:txBody>
      </p:sp>
      <p:sp>
        <p:nvSpPr>
          <p:cNvPr id="23" name="Text 21"/>
          <p:cNvSpPr/>
          <p:nvPr/>
        </p:nvSpPr>
        <p:spPr>
          <a:xfrm>
            <a:off x="7584638" y="6808351"/>
            <a:ext cx="6262449" cy="272058"/>
          </a:xfrm>
          <a:prstGeom prst="rect">
            <a:avLst/>
          </a:prstGeom>
          <a:noFill/>
          <a:ln/>
        </p:spPr>
        <p:txBody>
          <a:bodyPr wrap="none" lIns="0" tIns="0" rIns="0" bIns="0" rtlCol="0" anchor="t"/>
          <a:lstStyle/>
          <a:p>
            <a:pPr marL="0" indent="0" algn="l">
              <a:lnSpc>
                <a:spcPts val="2100"/>
              </a:lnSpc>
              <a:buNone/>
            </a:pPr>
            <a:r>
              <a:rPr lang="en-US" sz="1650" b="1" dirty="0">
                <a:solidFill>
                  <a:srgbClr val="67534F"/>
                </a:solidFill>
                <a:latin typeface="Montserrat" pitchFamily="34" charset="0"/>
                <a:ea typeface="Montserrat" pitchFamily="34" charset="-122"/>
                <a:cs typeface="Montserrat" pitchFamily="34" charset="-120"/>
              </a:rPr>
              <a:t>Time Dimensions:</a:t>
            </a:r>
            <a:endParaRPr lang="en-US" sz="1650" dirty="0"/>
          </a:p>
        </p:txBody>
      </p:sp>
      <p:sp>
        <p:nvSpPr>
          <p:cNvPr id="24" name="Text 22"/>
          <p:cNvSpPr/>
          <p:nvPr/>
        </p:nvSpPr>
        <p:spPr>
          <a:xfrm>
            <a:off x="7584638" y="7263884"/>
            <a:ext cx="6262449" cy="272058"/>
          </a:xfrm>
          <a:prstGeom prst="rect">
            <a:avLst/>
          </a:prstGeom>
          <a:noFill/>
          <a:ln/>
        </p:spPr>
        <p:txBody>
          <a:bodyPr wrap="none" lIns="0" tIns="0" rIns="0" bIns="0" rtlCol="0" anchor="t"/>
          <a:lstStyle/>
          <a:p>
            <a:pPr marL="342900" indent="-342900" algn="l">
              <a:lnSpc>
                <a:spcPts val="2100"/>
              </a:lnSpc>
              <a:buSzPct val="100000"/>
              <a:buChar char="•"/>
            </a:pPr>
            <a:r>
              <a:rPr lang="en-US" sz="1650" dirty="0">
                <a:solidFill>
                  <a:srgbClr val="67534F"/>
                </a:solidFill>
                <a:latin typeface="Montserrat" pitchFamily="34" charset="0"/>
                <a:ea typeface="Montserrat" pitchFamily="34" charset="-122"/>
                <a:cs typeface="Montserrat" pitchFamily="34" charset="-120"/>
              </a:rPr>
              <a:t>Months, Years</a:t>
            </a:r>
            <a:endParaRPr lang="en-US" sz="1650" dirty="0"/>
          </a:p>
        </p:txBody>
      </p:sp>
      <p:sp>
        <p:nvSpPr>
          <p:cNvPr id="25" name="Rectangle 24">
            <a:extLst>
              <a:ext uri="{FF2B5EF4-FFF2-40B4-BE49-F238E27FC236}">
                <a16:creationId xmlns:a16="http://schemas.microsoft.com/office/drawing/2014/main" id="{21E500B8-AA67-0D86-3F0F-94241584F1C5}"/>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7680960" cy="8229600"/>
          </a:xfrm>
          <a:prstGeom prst="rect">
            <a:avLst/>
          </a:prstGeom>
          <a:solidFill>
            <a:srgbClr val="DFDFE0"/>
          </a:solidFill>
          <a:ln/>
        </p:spPr>
      </p:sp>
      <p:pic>
        <p:nvPicPr>
          <p:cNvPr id="3" name="Image 0" descr="preencoded.png"/>
          <p:cNvPicPr>
            <a:picLocks noChangeAspect="1"/>
          </p:cNvPicPr>
          <p:nvPr/>
        </p:nvPicPr>
        <p:blipFill>
          <a:blip r:embed="rId3"/>
          <a:stretch>
            <a:fillRect/>
          </a:stretch>
        </p:blipFill>
        <p:spPr>
          <a:xfrm>
            <a:off x="0" y="0"/>
            <a:ext cx="7680960" cy="8229600"/>
          </a:xfrm>
          <a:prstGeom prst="rect">
            <a:avLst/>
          </a:prstGeom>
        </p:spPr>
      </p:pic>
      <p:sp>
        <p:nvSpPr>
          <p:cNvPr id="4" name="Text 1"/>
          <p:cNvSpPr/>
          <p:nvPr/>
        </p:nvSpPr>
        <p:spPr>
          <a:xfrm>
            <a:off x="7962781" y="847011"/>
            <a:ext cx="4960382" cy="449461"/>
          </a:xfrm>
          <a:prstGeom prst="rect">
            <a:avLst/>
          </a:prstGeom>
          <a:noFill/>
          <a:ln/>
        </p:spPr>
        <p:txBody>
          <a:bodyPr wrap="none" lIns="0" tIns="0" rIns="0" bIns="0" rtlCol="0" anchor="t"/>
          <a:lstStyle/>
          <a:p>
            <a:pPr marL="0" indent="0" algn="l">
              <a:lnSpc>
                <a:spcPts val="3500"/>
              </a:lnSpc>
              <a:buNone/>
            </a:pPr>
            <a:r>
              <a:rPr lang="en-US" sz="2700" dirty="0">
                <a:solidFill>
                  <a:srgbClr val="532418"/>
                </a:solidFill>
                <a:latin typeface="Gotham Black" pitchFamily="50" charset="0"/>
                <a:ea typeface="Marcellus" pitchFamily="34" charset="-122"/>
                <a:cs typeface="Gotham Black" pitchFamily="50" charset="0"/>
              </a:rPr>
              <a:t>Data Preparation &amp; Engineering</a:t>
            </a:r>
            <a:endParaRPr lang="en-US" sz="2700" dirty="0">
              <a:latin typeface="Gotham Black" pitchFamily="50" charset="0"/>
              <a:cs typeface="Gotham Black" pitchFamily="50" charset="0"/>
            </a:endParaRPr>
          </a:p>
        </p:txBody>
      </p:sp>
      <p:sp>
        <p:nvSpPr>
          <p:cNvPr id="5" name="Text 2"/>
          <p:cNvSpPr/>
          <p:nvPr/>
        </p:nvSpPr>
        <p:spPr>
          <a:xfrm>
            <a:off x="7962781" y="1413629"/>
            <a:ext cx="120253" cy="156329"/>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arcellus Light" pitchFamily="34" charset="-122"/>
                <a:cs typeface="Gotham" pitchFamily="50" charset="0"/>
              </a:rPr>
              <a:t>01</a:t>
            </a:r>
            <a:endParaRPr lang="en-US" sz="900" dirty="0">
              <a:latin typeface="Gotham" pitchFamily="50" charset="0"/>
              <a:cs typeface="Gotham" pitchFamily="50" charset="0"/>
            </a:endParaRPr>
          </a:p>
        </p:txBody>
      </p:sp>
      <p:sp>
        <p:nvSpPr>
          <p:cNvPr id="6" name="Shape 3"/>
          <p:cNvSpPr/>
          <p:nvPr/>
        </p:nvSpPr>
        <p:spPr>
          <a:xfrm>
            <a:off x="7962781" y="1608773"/>
            <a:ext cx="6020038" cy="15240"/>
          </a:xfrm>
          <a:prstGeom prst="rect">
            <a:avLst/>
          </a:prstGeom>
          <a:solidFill>
            <a:srgbClr val="FF954F"/>
          </a:solidFill>
          <a:ln/>
        </p:spPr>
      </p:sp>
      <p:sp>
        <p:nvSpPr>
          <p:cNvPr id="7" name="Text 4"/>
          <p:cNvSpPr/>
          <p:nvPr/>
        </p:nvSpPr>
        <p:spPr>
          <a:xfrm>
            <a:off x="7962781" y="1699379"/>
            <a:ext cx="1728788"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Data Type Validation</a:t>
            </a:r>
            <a:endParaRPr lang="en-US" sz="1350" dirty="0">
              <a:latin typeface="Gotham" pitchFamily="50" charset="0"/>
              <a:cs typeface="Gotham" pitchFamily="50" charset="0"/>
            </a:endParaRPr>
          </a:p>
        </p:txBody>
      </p:sp>
      <p:sp>
        <p:nvSpPr>
          <p:cNvPr id="8" name="Text 5"/>
          <p:cNvSpPr/>
          <p:nvPr/>
        </p:nvSpPr>
        <p:spPr>
          <a:xfrm>
            <a:off x="7962781" y="1970842"/>
            <a:ext cx="6020038"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Verified and standardized column data types for consistent analysis</a:t>
            </a:r>
            <a:endParaRPr lang="en-US" sz="900" dirty="0">
              <a:latin typeface="Gotham" pitchFamily="50" charset="0"/>
              <a:cs typeface="Gotham" pitchFamily="50" charset="0"/>
            </a:endParaRPr>
          </a:p>
        </p:txBody>
      </p:sp>
      <p:sp>
        <p:nvSpPr>
          <p:cNvPr id="9" name="Text 6"/>
          <p:cNvSpPr/>
          <p:nvPr/>
        </p:nvSpPr>
        <p:spPr>
          <a:xfrm>
            <a:off x="7962781" y="2268022"/>
            <a:ext cx="120253" cy="156329"/>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arcellus Light" pitchFamily="34" charset="-122"/>
                <a:cs typeface="Gotham" pitchFamily="50" charset="0"/>
              </a:rPr>
              <a:t>02</a:t>
            </a:r>
            <a:endParaRPr lang="en-US" sz="900" dirty="0">
              <a:latin typeface="Gotham" pitchFamily="50" charset="0"/>
              <a:cs typeface="Gotham" pitchFamily="50" charset="0"/>
            </a:endParaRPr>
          </a:p>
        </p:txBody>
      </p:sp>
      <p:sp>
        <p:nvSpPr>
          <p:cNvPr id="10" name="Shape 7"/>
          <p:cNvSpPr/>
          <p:nvPr/>
        </p:nvSpPr>
        <p:spPr>
          <a:xfrm>
            <a:off x="7962781" y="2463165"/>
            <a:ext cx="6020038" cy="15240"/>
          </a:xfrm>
          <a:prstGeom prst="rect">
            <a:avLst/>
          </a:prstGeom>
          <a:solidFill>
            <a:srgbClr val="FF954F"/>
          </a:solidFill>
          <a:ln/>
        </p:spPr>
      </p:sp>
      <p:sp>
        <p:nvSpPr>
          <p:cNvPr id="11" name="Text 8"/>
          <p:cNvSpPr/>
          <p:nvPr/>
        </p:nvSpPr>
        <p:spPr>
          <a:xfrm>
            <a:off x="7962781" y="2553772"/>
            <a:ext cx="1734741"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Date-Time Conversion</a:t>
            </a:r>
            <a:endParaRPr lang="en-US" sz="1350" dirty="0">
              <a:latin typeface="Gotham" pitchFamily="50" charset="0"/>
              <a:cs typeface="Gotham" pitchFamily="50" charset="0"/>
            </a:endParaRPr>
          </a:p>
        </p:txBody>
      </p:sp>
      <p:sp>
        <p:nvSpPr>
          <p:cNvPr id="12" name="Text 9"/>
          <p:cNvSpPr/>
          <p:nvPr/>
        </p:nvSpPr>
        <p:spPr>
          <a:xfrm>
            <a:off x="7962781" y="2825234"/>
            <a:ext cx="6020038"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Converted date-time columns into proper datetime format for temporal analysis</a:t>
            </a:r>
            <a:endParaRPr lang="en-US" sz="900" dirty="0">
              <a:latin typeface="Gotham" pitchFamily="50" charset="0"/>
              <a:cs typeface="Gotham" pitchFamily="50" charset="0"/>
            </a:endParaRPr>
          </a:p>
        </p:txBody>
      </p:sp>
      <p:sp>
        <p:nvSpPr>
          <p:cNvPr id="13" name="Text 10"/>
          <p:cNvSpPr/>
          <p:nvPr/>
        </p:nvSpPr>
        <p:spPr>
          <a:xfrm>
            <a:off x="7962781" y="3122414"/>
            <a:ext cx="120253" cy="156329"/>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arcellus Light" pitchFamily="34" charset="-122"/>
                <a:cs typeface="Gotham" pitchFamily="50" charset="0"/>
              </a:rPr>
              <a:t>03</a:t>
            </a:r>
            <a:endParaRPr lang="en-US" sz="900" dirty="0">
              <a:latin typeface="Gotham" pitchFamily="50" charset="0"/>
              <a:cs typeface="Gotham" pitchFamily="50" charset="0"/>
            </a:endParaRPr>
          </a:p>
        </p:txBody>
      </p:sp>
      <p:sp>
        <p:nvSpPr>
          <p:cNvPr id="14" name="Shape 11"/>
          <p:cNvSpPr/>
          <p:nvPr/>
        </p:nvSpPr>
        <p:spPr>
          <a:xfrm>
            <a:off x="7962781" y="3317558"/>
            <a:ext cx="6020038" cy="15240"/>
          </a:xfrm>
          <a:prstGeom prst="rect">
            <a:avLst/>
          </a:prstGeom>
          <a:solidFill>
            <a:srgbClr val="FF954F"/>
          </a:solidFill>
          <a:ln/>
        </p:spPr>
      </p:sp>
      <p:sp>
        <p:nvSpPr>
          <p:cNvPr id="15" name="Text 12"/>
          <p:cNvSpPr/>
          <p:nvPr/>
        </p:nvSpPr>
        <p:spPr>
          <a:xfrm>
            <a:off x="7962781" y="3408164"/>
            <a:ext cx="1728788"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Duplicate Detection</a:t>
            </a:r>
            <a:endParaRPr lang="en-US" sz="1350" dirty="0">
              <a:latin typeface="Gotham" pitchFamily="50" charset="0"/>
              <a:cs typeface="Gotham" pitchFamily="50" charset="0"/>
            </a:endParaRPr>
          </a:p>
        </p:txBody>
      </p:sp>
      <p:sp>
        <p:nvSpPr>
          <p:cNvPr id="16" name="Text 13"/>
          <p:cNvSpPr/>
          <p:nvPr/>
        </p:nvSpPr>
        <p:spPr>
          <a:xfrm>
            <a:off x="7962781" y="3679627"/>
            <a:ext cx="6020038"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Checked for and addressed duplicated values to ensure data integrity</a:t>
            </a:r>
            <a:endParaRPr lang="en-US" sz="900" dirty="0">
              <a:latin typeface="Gotham" pitchFamily="50" charset="0"/>
              <a:cs typeface="Gotham" pitchFamily="50" charset="0"/>
            </a:endParaRPr>
          </a:p>
        </p:txBody>
      </p:sp>
      <p:sp>
        <p:nvSpPr>
          <p:cNvPr id="17" name="Text 14"/>
          <p:cNvSpPr/>
          <p:nvPr/>
        </p:nvSpPr>
        <p:spPr>
          <a:xfrm>
            <a:off x="7962781" y="3976807"/>
            <a:ext cx="120253" cy="156329"/>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arcellus Light" pitchFamily="34" charset="-122"/>
                <a:cs typeface="Gotham" pitchFamily="50" charset="0"/>
              </a:rPr>
              <a:t>04</a:t>
            </a:r>
            <a:endParaRPr lang="en-US" sz="900" dirty="0">
              <a:latin typeface="Gotham" pitchFamily="50" charset="0"/>
              <a:cs typeface="Gotham" pitchFamily="50" charset="0"/>
            </a:endParaRPr>
          </a:p>
        </p:txBody>
      </p:sp>
      <p:sp>
        <p:nvSpPr>
          <p:cNvPr id="18" name="Shape 15"/>
          <p:cNvSpPr/>
          <p:nvPr/>
        </p:nvSpPr>
        <p:spPr>
          <a:xfrm>
            <a:off x="7962781" y="4171950"/>
            <a:ext cx="6020038" cy="15240"/>
          </a:xfrm>
          <a:prstGeom prst="rect">
            <a:avLst/>
          </a:prstGeom>
          <a:solidFill>
            <a:srgbClr val="FF954F"/>
          </a:solidFill>
          <a:ln/>
        </p:spPr>
      </p:sp>
      <p:sp>
        <p:nvSpPr>
          <p:cNvPr id="19" name="Text 16"/>
          <p:cNvSpPr/>
          <p:nvPr/>
        </p:nvSpPr>
        <p:spPr>
          <a:xfrm>
            <a:off x="7962781" y="4262557"/>
            <a:ext cx="1728788"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Statistical Summary</a:t>
            </a:r>
            <a:endParaRPr lang="en-US" sz="1350" dirty="0">
              <a:latin typeface="Gotham" pitchFamily="50" charset="0"/>
              <a:cs typeface="Gotham" pitchFamily="50" charset="0"/>
            </a:endParaRPr>
          </a:p>
        </p:txBody>
      </p:sp>
      <p:sp>
        <p:nvSpPr>
          <p:cNvPr id="20" name="Text 17"/>
          <p:cNvSpPr/>
          <p:nvPr/>
        </p:nvSpPr>
        <p:spPr>
          <a:xfrm>
            <a:off x="7962781" y="4534019"/>
            <a:ext cx="6020038"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Generated quick summary statistics of numeric columns to identify patterns and outliers</a:t>
            </a:r>
            <a:endParaRPr lang="en-US" sz="900" dirty="0">
              <a:latin typeface="Gotham" pitchFamily="50" charset="0"/>
              <a:cs typeface="Gotham" pitchFamily="50" charset="0"/>
            </a:endParaRPr>
          </a:p>
        </p:txBody>
      </p:sp>
      <p:sp>
        <p:nvSpPr>
          <p:cNvPr id="21" name="Text 18"/>
          <p:cNvSpPr/>
          <p:nvPr/>
        </p:nvSpPr>
        <p:spPr>
          <a:xfrm>
            <a:off x="7962781" y="4870252"/>
            <a:ext cx="2236589" cy="224671"/>
          </a:xfrm>
          <a:prstGeom prst="rect">
            <a:avLst/>
          </a:prstGeom>
          <a:noFill/>
          <a:ln/>
        </p:spPr>
        <p:txBody>
          <a:bodyPr wrap="none" lIns="0" tIns="0" rIns="0" bIns="0" rtlCol="0" anchor="t"/>
          <a:lstStyle/>
          <a:p>
            <a:pPr marL="0" indent="0" algn="l">
              <a:lnSpc>
                <a:spcPts val="1750"/>
              </a:lnSpc>
              <a:buNone/>
            </a:pPr>
            <a:r>
              <a:rPr lang="en-US" sz="1350" dirty="0">
                <a:solidFill>
                  <a:srgbClr val="532418"/>
                </a:solidFill>
                <a:latin typeface="Gotham" pitchFamily="50" charset="0"/>
                <a:ea typeface="Marcellus" pitchFamily="34" charset="-122"/>
                <a:cs typeface="Gotham" pitchFamily="50" charset="0"/>
              </a:rPr>
              <a:t>Calculated Columns Created</a:t>
            </a:r>
            <a:endParaRPr lang="en-US" sz="1350" dirty="0">
              <a:latin typeface="Gotham" pitchFamily="50" charset="0"/>
              <a:cs typeface="Gotham" pitchFamily="50" charset="0"/>
            </a:endParaRPr>
          </a:p>
        </p:txBody>
      </p:sp>
      <p:sp>
        <p:nvSpPr>
          <p:cNvPr id="22" name="Shape 19"/>
          <p:cNvSpPr/>
          <p:nvPr/>
        </p:nvSpPr>
        <p:spPr>
          <a:xfrm>
            <a:off x="7962781" y="5212080"/>
            <a:ext cx="6020038" cy="671393"/>
          </a:xfrm>
          <a:prstGeom prst="roundRect">
            <a:avLst>
              <a:gd name="adj" fmla="val 7523"/>
            </a:avLst>
          </a:prstGeom>
          <a:solidFill>
            <a:srgbClr val="FFFFF4">
              <a:alpha val="95000"/>
            </a:srgbClr>
          </a:solidFill>
          <a:ln w="15240">
            <a:solidFill>
              <a:srgbClr val="FFE0CC"/>
            </a:solidFill>
            <a:prstDash val="solid"/>
          </a:ln>
        </p:spPr>
      </p:sp>
      <p:sp>
        <p:nvSpPr>
          <p:cNvPr id="23" name="Text 20"/>
          <p:cNvSpPr/>
          <p:nvPr/>
        </p:nvSpPr>
        <p:spPr>
          <a:xfrm>
            <a:off x="8098274" y="5347573"/>
            <a:ext cx="1728788"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Revenue</a:t>
            </a:r>
            <a:endParaRPr lang="en-US" sz="1350" dirty="0">
              <a:latin typeface="Gotham" pitchFamily="50" charset="0"/>
              <a:cs typeface="Gotham" pitchFamily="50" charset="0"/>
            </a:endParaRPr>
          </a:p>
        </p:txBody>
      </p:sp>
      <p:sp>
        <p:nvSpPr>
          <p:cNvPr id="24" name="Text 21"/>
          <p:cNvSpPr/>
          <p:nvPr/>
        </p:nvSpPr>
        <p:spPr>
          <a:xfrm>
            <a:off x="8098274" y="5619036"/>
            <a:ext cx="5749052"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Formula: Sales × Quantity</a:t>
            </a:r>
            <a:endParaRPr lang="en-US" sz="900" dirty="0">
              <a:latin typeface="Gotham" pitchFamily="50" charset="0"/>
              <a:cs typeface="Gotham" pitchFamily="50" charset="0"/>
            </a:endParaRPr>
          </a:p>
        </p:txBody>
      </p:sp>
      <p:sp>
        <p:nvSpPr>
          <p:cNvPr id="25" name="Shape 22"/>
          <p:cNvSpPr/>
          <p:nvPr/>
        </p:nvSpPr>
        <p:spPr>
          <a:xfrm>
            <a:off x="7962781" y="5961578"/>
            <a:ext cx="6020038" cy="671393"/>
          </a:xfrm>
          <a:prstGeom prst="roundRect">
            <a:avLst>
              <a:gd name="adj" fmla="val 7523"/>
            </a:avLst>
          </a:prstGeom>
          <a:solidFill>
            <a:srgbClr val="FFFFF4">
              <a:alpha val="95000"/>
            </a:srgbClr>
          </a:solidFill>
          <a:ln w="15240">
            <a:solidFill>
              <a:srgbClr val="FFE0CC"/>
            </a:solidFill>
            <a:prstDash val="solid"/>
          </a:ln>
        </p:spPr>
      </p:sp>
      <p:sp>
        <p:nvSpPr>
          <p:cNvPr id="26" name="Text 23"/>
          <p:cNvSpPr/>
          <p:nvPr/>
        </p:nvSpPr>
        <p:spPr>
          <a:xfrm>
            <a:off x="8098274" y="6097072"/>
            <a:ext cx="1728788"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Net Revenue</a:t>
            </a:r>
            <a:endParaRPr lang="en-US" sz="1350" dirty="0">
              <a:latin typeface="Gotham" pitchFamily="50" charset="0"/>
              <a:cs typeface="Gotham" pitchFamily="50" charset="0"/>
            </a:endParaRPr>
          </a:p>
        </p:txBody>
      </p:sp>
      <p:sp>
        <p:nvSpPr>
          <p:cNvPr id="27" name="Text 24"/>
          <p:cNvSpPr/>
          <p:nvPr/>
        </p:nvSpPr>
        <p:spPr>
          <a:xfrm>
            <a:off x="8098274" y="6368534"/>
            <a:ext cx="5749052"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Formula: Revenue × (1 − Discount)</a:t>
            </a:r>
            <a:endParaRPr lang="en-US" sz="900" dirty="0">
              <a:latin typeface="Gotham" pitchFamily="50" charset="0"/>
              <a:cs typeface="Gotham" pitchFamily="50" charset="0"/>
            </a:endParaRPr>
          </a:p>
        </p:txBody>
      </p:sp>
      <p:sp>
        <p:nvSpPr>
          <p:cNvPr id="28" name="Shape 25"/>
          <p:cNvSpPr/>
          <p:nvPr/>
        </p:nvSpPr>
        <p:spPr>
          <a:xfrm>
            <a:off x="7962781" y="6711077"/>
            <a:ext cx="6020038" cy="671393"/>
          </a:xfrm>
          <a:prstGeom prst="roundRect">
            <a:avLst>
              <a:gd name="adj" fmla="val 7523"/>
            </a:avLst>
          </a:prstGeom>
          <a:solidFill>
            <a:srgbClr val="FFFFF4">
              <a:alpha val="95000"/>
            </a:srgbClr>
          </a:solidFill>
          <a:ln w="15240">
            <a:solidFill>
              <a:srgbClr val="FFE0CC"/>
            </a:solidFill>
            <a:prstDash val="solid"/>
          </a:ln>
        </p:spPr>
      </p:sp>
      <p:sp>
        <p:nvSpPr>
          <p:cNvPr id="29" name="Text 26"/>
          <p:cNvSpPr/>
          <p:nvPr/>
        </p:nvSpPr>
        <p:spPr>
          <a:xfrm>
            <a:off x="8098274" y="6846570"/>
            <a:ext cx="1728788" cy="224671"/>
          </a:xfrm>
          <a:prstGeom prst="rect">
            <a:avLst/>
          </a:prstGeom>
          <a:noFill/>
          <a:ln/>
        </p:spPr>
        <p:txBody>
          <a:bodyPr wrap="none" lIns="0" tIns="0" rIns="0" bIns="0" rtlCol="0" anchor="t"/>
          <a:lstStyle/>
          <a:p>
            <a:pPr marL="0" indent="0" algn="l">
              <a:lnSpc>
                <a:spcPts val="1750"/>
              </a:lnSpc>
              <a:buNone/>
            </a:pPr>
            <a:r>
              <a:rPr lang="en-US" sz="1350" dirty="0">
                <a:solidFill>
                  <a:srgbClr val="67534F"/>
                </a:solidFill>
                <a:latin typeface="Gotham" pitchFamily="50" charset="0"/>
                <a:ea typeface="Marcellus" pitchFamily="34" charset="-122"/>
                <a:cs typeface="Gotham" pitchFamily="50" charset="0"/>
              </a:rPr>
              <a:t>Year Month</a:t>
            </a:r>
            <a:endParaRPr lang="en-US" sz="1350" dirty="0">
              <a:latin typeface="Gotham" pitchFamily="50" charset="0"/>
              <a:cs typeface="Gotham" pitchFamily="50" charset="0"/>
            </a:endParaRPr>
          </a:p>
        </p:txBody>
      </p:sp>
      <p:sp>
        <p:nvSpPr>
          <p:cNvPr id="30" name="Text 27"/>
          <p:cNvSpPr/>
          <p:nvPr/>
        </p:nvSpPr>
        <p:spPr>
          <a:xfrm>
            <a:off x="8098274" y="7118033"/>
            <a:ext cx="5749052" cy="128945"/>
          </a:xfrm>
          <a:prstGeom prst="rect">
            <a:avLst/>
          </a:prstGeom>
          <a:noFill/>
          <a:ln/>
        </p:spPr>
        <p:txBody>
          <a:bodyPr wrap="none" lIns="0" tIns="0" rIns="0" bIns="0" rtlCol="0" anchor="t"/>
          <a:lstStyle/>
          <a:p>
            <a:pPr marL="0" indent="0" algn="l">
              <a:lnSpc>
                <a:spcPts val="1000"/>
              </a:lnSpc>
              <a:buNone/>
            </a:pPr>
            <a:r>
              <a:rPr lang="en-US" sz="900" dirty="0">
                <a:solidFill>
                  <a:srgbClr val="67534F"/>
                </a:solidFill>
                <a:latin typeface="Gotham" pitchFamily="50" charset="0"/>
                <a:ea typeface="Montserrat" pitchFamily="34" charset="-122"/>
                <a:cs typeface="Gotham" pitchFamily="50" charset="0"/>
              </a:rPr>
              <a:t>Extracted from Order Date for monthly and MoM calculations</a:t>
            </a:r>
            <a:endParaRPr lang="en-US" sz="900" dirty="0">
              <a:latin typeface="Gotham" pitchFamily="50" charset="0"/>
              <a:cs typeface="Gotham" pitchFamily="50" charset="0"/>
            </a:endParaRPr>
          </a:p>
        </p:txBody>
      </p:sp>
      <p:pic>
        <p:nvPicPr>
          <p:cNvPr id="32" name="Picture 31">
            <a:extLst>
              <a:ext uri="{FF2B5EF4-FFF2-40B4-BE49-F238E27FC236}">
                <a16:creationId xmlns:a16="http://schemas.microsoft.com/office/drawing/2014/main" id="{9137272F-CB47-FA1C-C0CC-8A16C362DC73}"/>
              </a:ext>
            </a:extLst>
          </p:cNvPr>
          <p:cNvPicPr>
            <a:picLocks noChangeAspect="1"/>
          </p:cNvPicPr>
          <p:nvPr/>
        </p:nvPicPr>
        <p:blipFill>
          <a:blip r:embed="rId4"/>
          <a:stretch>
            <a:fillRect/>
          </a:stretch>
        </p:blipFill>
        <p:spPr>
          <a:xfrm>
            <a:off x="0" y="1"/>
            <a:ext cx="7680960" cy="8229600"/>
          </a:xfrm>
          <a:prstGeom prst="rect">
            <a:avLst/>
          </a:prstGeom>
        </p:spPr>
      </p:pic>
      <p:sp>
        <p:nvSpPr>
          <p:cNvPr id="33" name="Rectangle 32">
            <a:extLst>
              <a:ext uri="{FF2B5EF4-FFF2-40B4-BE49-F238E27FC236}">
                <a16:creationId xmlns:a16="http://schemas.microsoft.com/office/drawing/2014/main" id="{C77F8508-8017-C9DD-1683-1BBCB229175C}"/>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32830"/>
            <a:ext cx="8104465" cy="805220"/>
          </a:xfrm>
          <a:prstGeom prst="rect">
            <a:avLst/>
          </a:prstGeom>
          <a:noFill/>
          <a:ln/>
        </p:spPr>
        <p:txBody>
          <a:bodyPr wrap="none" lIns="0" tIns="0" rIns="0" bIns="0" rtlCol="0" anchor="t"/>
          <a:lstStyle/>
          <a:p>
            <a:pPr marL="0" indent="0" algn="l">
              <a:lnSpc>
                <a:spcPts val="6300"/>
              </a:lnSpc>
              <a:buNone/>
            </a:pPr>
            <a:r>
              <a:rPr lang="en-US" sz="4850" dirty="0">
                <a:solidFill>
                  <a:srgbClr val="532418"/>
                </a:solidFill>
                <a:latin typeface="Gotham Black" pitchFamily="50" charset="0"/>
                <a:ea typeface="Marcellus" pitchFamily="34" charset="-122"/>
                <a:cs typeface="Gotham Black" pitchFamily="50" charset="0"/>
              </a:rPr>
              <a:t>Overall Business Performance</a:t>
            </a:r>
            <a:endParaRPr lang="en-US" sz="4850" dirty="0">
              <a:latin typeface="Gotham Black" pitchFamily="50" charset="0"/>
              <a:cs typeface="Gotham Black" pitchFamily="50" charset="0"/>
            </a:endParaRPr>
          </a:p>
        </p:txBody>
      </p:sp>
      <p:sp>
        <p:nvSpPr>
          <p:cNvPr id="3" name="Text 1"/>
          <p:cNvSpPr/>
          <p:nvPr/>
        </p:nvSpPr>
        <p:spPr>
          <a:xfrm>
            <a:off x="793790" y="1952744"/>
            <a:ext cx="6393418" cy="430887"/>
          </a:xfrm>
          <a:prstGeom prst="rect">
            <a:avLst/>
          </a:prstGeom>
          <a:noFill/>
          <a:ln/>
        </p:spPr>
        <p:txBody>
          <a:bodyPr wrap="none" lIns="0" tIns="0" rIns="0" bIns="0" rtlCol="0" anchor="t"/>
          <a:lstStyle/>
          <a:p>
            <a:pPr marL="0" indent="0" algn="ctr">
              <a:lnSpc>
                <a:spcPts val="3350"/>
              </a:lnSpc>
              <a:buNone/>
            </a:pPr>
            <a:r>
              <a:rPr lang="en-US" sz="3350" dirty="0">
                <a:solidFill>
                  <a:srgbClr val="67534F"/>
                </a:solidFill>
                <a:latin typeface="Gotham" pitchFamily="50" charset="0"/>
                <a:ea typeface="Marcellus" pitchFamily="34" charset="-122"/>
                <a:cs typeface="Gotham" pitchFamily="50" charset="0"/>
              </a:rPr>
              <a:t>$9.9M</a:t>
            </a:r>
            <a:endParaRPr lang="en-US" sz="3350" dirty="0">
              <a:latin typeface="Gotham" pitchFamily="50" charset="0"/>
              <a:cs typeface="Gotham" pitchFamily="50" charset="0"/>
            </a:endParaRPr>
          </a:p>
        </p:txBody>
      </p:sp>
      <p:sp>
        <p:nvSpPr>
          <p:cNvPr id="4" name="Text 2"/>
          <p:cNvSpPr/>
          <p:nvPr/>
        </p:nvSpPr>
        <p:spPr>
          <a:xfrm>
            <a:off x="2441734" y="2644735"/>
            <a:ext cx="3097530" cy="402669"/>
          </a:xfrm>
          <a:prstGeom prst="rect">
            <a:avLst/>
          </a:prstGeom>
          <a:noFill/>
          <a:ln/>
        </p:spPr>
        <p:txBody>
          <a:bodyPr wrap="none" lIns="0" tIns="0" rIns="0" bIns="0" rtlCol="0" anchor="t"/>
          <a:lstStyle/>
          <a:p>
            <a:pPr marL="0" indent="0" algn="ctr">
              <a:lnSpc>
                <a:spcPts val="3150"/>
              </a:lnSpc>
              <a:buNone/>
            </a:pPr>
            <a:r>
              <a:rPr lang="en-US" sz="2400" dirty="0">
                <a:solidFill>
                  <a:srgbClr val="67534F"/>
                </a:solidFill>
                <a:latin typeface="Gotham" pitchFamily="50" charset="0"/>
                <a:ea typeface="Marcellus" pitchFamily="34" charset="-122"/>
                <a:cs typeface="Gotham" pitchFamily="50" charset="0"/>
              </a:rPr>
              <a:t>Total Revenue</a:t>
            </a:r>
            <a:endParaRPr lang="en-US" sz="2400" dirty="0">
              <a:latin typeface="Gotham" pitchFamily="50" charset="0"/>
              <a:cs typeface="Gotham" pitchFamily="50" charset="0"/>
            </a:endParaRPr>
          </a:p>
        </p:txBody>
      </p:sp>
      <p:sp>
        <p:nvSpPr>
          <p:cNvPr id="5" name="Text 3"/>
          <p:cNvSpPr/>
          <p:nvPr/>
        </p:nvSpPr>
        <p:spPr>
          <a:xfrm>
            <a:off x="793790" y="3170158"/>
            <a:ext cx="6393418" cy="273129"/>
          </a:xfrm>
          <a:prstGeom prst="rect">
            <a:avLst/>
          </a:prstGeom>
          <a:noFill/>
          <a:ln/>
        </p:spPr>
        <p:txBody>
          <a:bodyPr wrap="none" lIns="0" tIns="0" rIns="0" bIns="0" rtlCol="0" anchor="t"/>
          <a:lstStyle/>
          <a:p>
            <a:pPr marL="0" indent="0" algn="ctr">
              <a:lnSpc>
                <a:spcPts val="2150"/>
              </a:lnSpc>
              <a:buNone/>
            </a:pPr>
            <a:r>
              <a:rPr lang="en-US" sz="1650" dirty="0">
                <a:solidFill>
                  <a:srgbClr val="67534F"/>
                </a:solidFill>
                <a:latin typeface="Gotham" pitchFamily="50" charset="0"/>
                <a:ea typeface="Montserrat" pitchFamily="34" charset="-122"/>
                <a:cs typeface="Gotham" pitchFamily="50" charset="0"/>
              </a:rPr>
              <a:t>Generated across all product categories and regions</a:t>
            </a:r>
            <a:endParaRPr lang="en-US" sz="1650" dirty="0">
              <a:latin typeface="Gotham" pitchFamily="50" charset="0"/>
              <a:cs typeface="Gotham" pitchFamily="50" charset="0"/>
            </a:endParaRPr>
          </a:p>
        </p:txBody>
      </p:sp>
      <p:sp>
        <p:nvSpPr>
          <p:cNvPr id="6" name="Text 4"/>
          <p:cNvSpPr/>
          <p:nvPr/>
        </p:nvSpPr>
        <p:spPr>
          <a:xfrm>
            <a:off x="7443073" y="1952744"/>
            <a:ext cx="6393537" cy="430887"/>
          </a:xfrm>
          <a:prstGeom prst="rect">
            <a:avLst/>
          </a:prstGeom>
          <a:noFill/>
          <a:ln/>
        </p:spPr>
        <p:txBody>
          <a:bodyPr wrap="none" lIns="0" tIns="0" rIns="0" bIns="0" rtlCol="0" anchor="t"/>
          <a:lstStyle/>
          <a:p>
            <a:pPr marL="0" indent="0" algn="ctr">
              <a:lnSpc>
                <a:spcPts val="3350"/>
              </a:lnSpc>
              <a:buNone/>
            </a:pPr>
            <a:r>
              <a:rPr lang="en-US" sz="3350" dirty="0">
                <a:solidFill>
                  <a:srgbClr val="67534F"/>
                </a:solidFill>
                <a:latin typeface="Gotham" pitchFamily="50" charset="0"/>
                <a:ea typeface="Marcellus" pitchFamily="34" charset="-122"/>
                <a:cs typeface="Gotham" pitchFamily="50" charset="0"/>
              </a:rPr>
              <a:t>$286K</a:t>
            </a:r>
            <a:endParaRPr lang="en-US" sz="3350" dirty="0">
              <a:latin typeface="Gotham" pitchFamily="50" charset="0"/>
              <a:cs typeface="Gotham" pitchFamily="50" charset="0"/>
            </a:endParaRPr>
          </a:p>
        </p:txBody>
      </p:sp>
      <p:sp>
        <p:nvSpPr>
          <p:cNvPr id="7" name="Text 5"/>
          <p:cNvSpPr/>
          <p:nvPr/>
        </p:nvSpPr>
        <p:spPr>
          <a:xfrm>
            <a:off x="9091017" y="2644735"/>
            <a:ext cx="3097530" cy="402669"/>
          </a:xfrm>
          <a:prstGeom prst="rect">
            <a:avLst/>
          </a:prstGeom>
          <a:noFill/>
          <a:ln/>
        </p:spPr>
        <p:txBody>
          <a:bodyPr wrap="none" lIns="0" tIns="0" rIns="0" bIns="0" rtlCol="0" anchor="t"/>
          <a:lstStyle/>
          <a:p>
            <a:pPr marL="0" indent="0" algn="ctr">
              <a:lnSpc>
                <a:spcPts val="3150"/>
              </a:lnSpc>
              <a:buNone/>
            </a:pPr>
            <a:r>
              <a:rPr lang="en-US" sz="2400" dirty="0">
                <a:solidFill>
                  <a:srgbClr val="67534F"/>
                </a:solidFill>
                <a:latin typeface="Gotham" pitchFamily="50" charset="0"/>
                <a:ea typeface="Marcellus" pitchFamily="34" charset="-122"/>
                <a:cs typeface="Gotham" pitchFamily="50" charset="0"/>
              </a:rPr>
              <a:t>Total Profit</a:t>
            </a:r>
            <a:endParaRPr lang="en-US" sz="2400" dirty="0">
              <a:latin typeface="Gotham" pitchFamily="50" charset="0"/>
              <a:cs typeface="Gotham" pitchFamily="50" charset="0"/>
            </a:endParaRPr>
          </a:p>
        </p:txBody>
      </p:sp>
      <p:sp>
        <p:nvSpPr>
          <p:cNvPr id="8" name="Text 6"/>
          <p:cNvSpPr/>
          <p:nvPr/>
        </p:nvSpPr>
        <p:spPr>
          <a:xfrm>
            <a:off x="7443073" y="3170158"/>
            <a:ext cx="6393537" cy="273129"/>
          </a:xfrm>
          <a:prstGeom prst="rect">
            <a:avLst/>
          </a:prstGeom>
          <a:noFill/>
          <a:ln/>
        </p:spPr>
        <p:txBody>
          <a:bodyPr wrap="none" lIns="0" tIns="0" rIns="0" bIns="0" rtlCol="0" anchor="t"/>
          <a:lstStyle/>
          <a:p>
            <a:pPr marL="0" indent="0" algn="ctr">
              <a:lnSpc>
                <a:spcPts val="2150"/>
              </a:lnSpc>
              <a:buNone/>
            </a:pPr>
            <a:r>
              <a:rPr lang="en-US" sz="1650" dirty="0">
                <a:solidFill>
                  <a:srgbClr val="67534F"/>
                </a:solidFill>
                <a:latin typeface="Gotham" pitchFamily="50" charset="0"/>
                <a:ea typeface="Montserrat" pitchFamily="34" charset="-122"/>
                <a:cs typeface="Gotham" pitchFamily="50" charset="0"/>
              </a:rPr>
              <a:t>Net profitability from all transactions</a:t>
            </a:r>
            <a:endParaRPr lang="en-US" sz="1650" dirty="0">
              <a:latin typeface="Gotham" pitchFamily="50" charset="0"/>
              <a:cs typeface="Gotham" pitchFamily="50" charset="0"/>
            </a:endParaRPr>
          </a:p>
        </p:txBody>
      </p:sp>
      <p:sp>
        <p:nvSpPr>
          <p:cNvPr id="9" name="Text 7"/>
          <p:cNvSpPr/>
          <p:nvPr/>
        </p:nvSpPr>
        <p:spPr>
          <a:xfrm>
            <a:off x="793790" y="3960257"/>
            <a:ext cx="6393418" cy="430887"/>
          </a:xfrm>
          <a:prstGeom prst="rect">
            <a:avLst/>
          </a:prstGeom>
          <a:noFill/>
          <a:ln/>
        </p:spPr>
        <p:txBody>
          <a:bodyPr wrap="none" lIns="0" tIns="0" rIns="0" bIns="0" rtlCol="0" anchor="t"/>
          <a:lstStyle/>
          <a:p>
            <a:pPr marL="0" indent="0" algn="ctr">
              <a:lnSpc>
                <a:spcPts val="3350"/>
              </a:lnSpc>
              <a:buNone/>
            </a:pPr>
            <a:r>
              <a:rPr lang="en-US" sz="3350" dirty="0">
                <a:solidFill>
                  <a:srgbClr val="67534F"/>
                </a:solidFill>
                <a:latin typeface="Gotham" pitchFamily="50" charset="0"/>
                <a:ea typeface="Marcellus" pitchFamily="34" charset="-122"/>
                <a:cs typeface="Gotham" pitchFamily="50" charset="0"/>
              </a:rPr>
              <a:t>2.89%</a:t>
            </a:r>
            <a:endParaRPr lang="en-US" sz="3350" dirty="0">
              <a:latin typeface="Gotham" pitchFamily="50" charset="0"/>
              <a:cs typeface="Gotham" pitchFamily="50" charset="0"/>
            </a:endParaRPr>
          </a:p>
        </p:txBody>
      </p:sp>
      <p:sp>
        <p:nvSpPr>
          <p:cNvPr id="10" name="Text 8"/>
          <p:cNvSpPr/>
          <p:nvPr/>
        </p:nvSpPr>
        <p:spPr>
          <a:xfrm>
            <a:off x="2441734" y="4652248"/>
            <a:ext cx="3097530" cy="402669"/>
          </a:xfrm>
          <a:prstGeom prst="rect">
            <a:avLst/>
          </a:prstGeom>
          <a:noFill/>
          <a:ln/>
        </p:spPr>
        <p:txBody>
          <a:bodyPr wrap="none" lIns="0" tIns="0" rIns="0" bIns="0" rtlCol="0" anchor="t"/>
          <a:lstStyle/>
          <a:p>
            <a:pPr marL="0" indent="0" algn="ctr">
              <a:lnSpc>
                <a:spcPts val="3150"/>
              </a:lnSpc>
              <a:buNone/>
            </a:pPr>
            <a:r>
              <a:rPr lang="en-US" sz="2400" dirty="0">
                <a:solidFill>
                  <a:srgbClr val="67534F"/>
                </a:solidFill>
                <a:latin typeface="Gotham" pitchFamily="50" charset="0"/>
                <a:ea typeface="Marcellus" pitchFamily="34" charset="-122"/>
                <a:cs typeface="Gotham" pitchFamily="50" charset="0"/>
              </a:rPr>
              <a:t>Profit Margin</a:t>
            </a:r>
            <a:endParaRPr lang="en-US" sz="2400" dirty="0">
              <a:latin typeface="Gotham" pitchFamily="50" charset="0"/>
              <a:cs typeface="Gotham" pitchFamily="50" charset="0"/>
            </a:endParaRPr>
          </a:p>
        </p:txBody>
      </p:sp>
      <p:sp>
        <p:nvSpPr>
          <p:cNvPr id="11" name="Text 9"/>
          <p:cNvSpPr/>
          <p:nvPr/>
        </p:nvSpPr>
        <p:spPr>
          <a:xfrm>
            <a:off x="793790" y="5177671"/>
            <a:ext cx="6393418" cy="273129"/>
          </a:xfrm>
          <a:prstGeom prst="rect">
            <a:avLst/>
          </a:prstGeom>
          <a:noFill/>
          <a:ln/>
        </p:spPr>
        <p:txBody>
          <a:bodyPr wrap="none" lIns="0" tIns="0" rIns="0" bIns="0" rtlCol="0" anchor="t"/>
          <a:lstStyle/>
          <a:p>
            <a:pPr marL="0" indent="0" algn="ctr">
              <a:lnSpc>
                <a:spcPts val="2150"/>
              </a:lnSpc>
              <a:buNone/>
            </a:pPr>
            <a:r>
              <a:rPr lang="en-US" sz="1650" dirty="0">
                <a:solidFill>
                  <a:srgbClr val="67534F"/>
                </a:solidFill>
                <a:latin typeface="Gotham" pitchFamily="50" charset="0"/>
                <a:ea typeface="Montserrat" pitchFamily="34" charset="-122"/>
                <a:cs typeface="Gotham" pitchFamily="50" charset="0"/>
              </a:rPr>
              <a:t>Overall profitability rate</a:t>
            </a:r>
            <a:endParaRPr lang="en-US" sz="1650" dirty="0">
              <a:latin typeface="Gotham" pitchFamily="50" charset="0"/>
              <a:cs typeface="Gotham" pitchFamily="50" charset="0"/>
            </a:endParaRPr>
          </a:p>
        </p:txBody>
      </p:sp>
      <p:sp>
        <p:nvSpPr>
          <p:cNvPr id="12" name="Text 10"/>
          <p:cNvSpPr/>
          <p:nvPr/>
        </p:nvSpPr>
        <p:spPr>
          <a:xfrm>
            <a:off x="7443073" y="3960257"/>
            <a:ext cx="6393537" cy="430887"/>
          </a:xfrm>
          <a:prstGeom prst="rect">
            <a:avLst/>
          </a:prstGeom>
          <a:noFill/>
          <a:ln/>
        </p:spPr>
        <p:txBody>
          <a:bodyPr wrap="none" lIns="0" tIns="0" rIns="0" bIns="0" rtlCol="0" anchor="t"/>
          <a:lstStyle/>
          <a:p>
            <a:pPr marL="0" indent="0" algn="ctr">
              <a:lnSpc>
                <a:spcPts val="3350"/>
              </a:lnSpc>
              <a:buNone/>
            </a:pPr>
            <a:r>
              <a:rPr lang="en-US" sz="3350" dirty="0">
                <a:solidFill>
                  <a:srgbClr val="67534F"/>
                </a:solidFill>
                <a:latin typeface="Gotham" pitchFamily="50" charset="0"/>
                <a:ea typeface="Marcellus" pitchFamily="34" charset="-122"/>
                <a:cs typeface="Gotham" pitchFamily="50" charset="0"/>
              </a:rPr>
              <a:t>37,873</a:t>
            </a:r>
            <a:endParaRPr lang="en-US" sz="3350" dirty="0">
              <a:latin typeface="Gotham" pitchFamily="50" charset="0"/>
              <a:cs typeface="Gotham" pitchFamily="50" charset="0"/>
            </a:endParaRPr>
          </a:p>
        </p:txBody>
      </p:sp>
      <p:sp>
        <p:nvSpPr>
          <p:cNvPr id="13" name="Text 11"/>
          <p:cNvSpPr/>
          <p:nvPr/>
        </p:nvSpPr>
        <p:spPr>
          <a:xfrm>
            <a:off x="9091017" y="4652248"/>
            <a:ext cx="3097530" cy="402669"/>
          </a:xfrm>
          <a:prstGeom prst="rect">
            <a:avLst/>
          </a:prstGeom>
          <a:noFill/>
          <a:ln/>
        </p:spPr>
        <p:txBody>
          <a:bodyPr wrap="none" lIns="0" tIns="0" rIns="0" bIns="0" rtlCol="0" anchor="t"/>
          <a:lstStyle/>
          <a:p>
            <a:pPr marL="0" indent="0" algn="ctr">
              <a:lnSpc>
                <a:spcPts val="3150"/>
              </a:lnSpc>
              <a:buNone/>
            </a:pPr>
            <a:r>
              <a:rPr lang="en-US" sz="2400" dirty="0">
                <a:solidFill>
                  <a:srgbClr val="67534F"/>
                </a:solidFill>
                <a:latin typeface="Gotham" pitchFamily="50" charset="0"/>
                <a:ea typeface="Marcellus" pitchFamily="34" charset="-122"/>
                <a:cs typeface="Gotham" pitchFamily="50" charset="0"/>
              </a:rPr>
              <a:t>Units Sold</a:t>
            </a:r>
            <a:endParaRPr lang="en-US" sz="2400" dirty="0">
              <a:latin typeface="Gotham" pitchFamily="50" charset="0"/>
              <a:cs typeface="Gotham" pitchFamily="50" charset="0"/>
            </a:endParaRPr>
          </a:p>
        </p:txBody>
      </p:sp>
      <p:sp>
        <p:nvSpPr>
          <p:cNvPr id="14" name="Text 12"/>
          <p:cNvSpPr/>
          <p:nvPr/>
        </p:nvSpPr>
        <p:spPr>
          <a:xfrm>
            <a:off x="7443073" y="5177671"/>
            <a:ext cx="6393537" cy="273129"/>
          </a:xfrm>
          <a:prstGeom prst="rect">
            <a:avLst/>
          </a:prstGeom>
          <a:noFill/>
          <a:ln/>
        </p:spPr>
        <p:txBody>
          <a:bodyPr wrap="none" lIns="0" tIns="0" rIns="0" bIns="0" rtlCol="0" anchor="t"/>
          <a:lstStyle/>
          <a:p>
            <a:pPr marL="0" indent="0" algn="ctr">
              <a:lnSpc>
                <a:spcPts val="2150"/>
              </a:lnSpc>
              <a:buNone/>
            </a:pPr>
            <a:r>
              <a:rPr lang="en-US" sz="1650" dirty="0">
                <a:solidFill>
                  <a:srgbClr val="67534F"/>
                </a:solidFill>
                <a:latin typeface="Gotham" pitchFamily="50" charset="0"/>
                <a:ea typeface="Montserrat" pitchFamily="34" charset="-122"/>
                <a:cs typeface="Gotham" pitchFamily="50" charset="0"/>
              </a:rPr>
              <a:t>Total product volume moved</a:t>
            </a:r>
            <a:endParaRPr lang="en-US" sz="1650" dirty="0">
              <a:latin typeface="Gotham" pitchFamily="50" charset="0"/>
              <a:cs typeface="Gotham" pitchFamily="50" charset="0"/>
            </a:endParaRPr>
          </a:p>
        </p:txBody>
      </p:sp>
      <p:sp>
        <p:nvSpPr>
          <p:cNvPr id="15" name="Text 13"/>
          <p:cNvSpPr/>
          <p:nvPr/>
        </p:nvSpPr>
        <p:spPr>
          <a:xfrm>
            <a:off x="793790" y="5885736"/>
            <a:ext cx="3672721" cy="402669"/>
          </a:xfrm>
          <a:prstGeom prst="rect">
            <a:avLst/>
          </a:prstGeom>
          <a:noFill/>
          <a:ln/>
        </p:spPr>
        <p:txBody>
          <a:bodyPr wrap="none" lIns="0" tIns="0" rIns="0" bIns="0" rtlCol="0" anchor="t"/>
          <a:lstStyle/>
          <a:p>
            <a:pPr marL="0" indent="0" algn="l">
              <a:lnSpc>
                <a:spcPts val="3150"/>
              </a:lnSpc>
              <a:buNone/>
            </a:pPr>
            <a:r>
              <a:rPr lang="en-US" sz="2400" dirty="0">
                <a:solidFill>
                  <a:srgbClr val="532418"/>
                </a:solidFill>
                <a:latin typeface="Gotham" pitchFamily="50" charset="0"/>
                <a:ea typeface="Marcellus" pitchFamily="34" charset="-122"/>
                <a:cs typeface="Gotham" pitchFamily="50" charset="0"/>
              </a:rPr>
              <a:t>Year-Over-Year Trajectory</a:t>
            </a:r>
            <a:endParaRPr lang="en-US" sz="2400" dirty="0">
              <a:latin typeface="Gotham" pitchFamily="50" charset="0"/>
              <a:cs typeface="Gotham" pitchFamily="50" charset="0"/>
            </a:endParaRPr>
          </a:p>
        </p:txBody>
      </p:sp>
      <p:sp>
        <p:nvSpPr>
          <p:cNvPr id="16" name="Text 14"/>
          <p:cNvSpPr/>
          <p:nvPr/>
        </p:nvSpPr>
        <p:spPr>
          <a:xfrm>
            <a:off x="793790" y="6493073"/>
            <a:ext cx="6258520" cy="819388"/>
          </a:xfrm>
          <a:prstGeom prst="rect">
            <a:avLst/>
          </a:prstGeom>
          <a:noFill/>
          <a:ln/>
        </p:spPr>
        <p:txBody>
          <a:bodyPr wrap="square" lIns="0" tIns="0" rIns="0" bIns="0" rtlCol="0" anchor="t"/>
          <a:lstStyle/>
          <a:p>
            <a:pPr marL="0" indent="0" algn="l">
              <a:lnSpc>
                <a:spcPts val="2150"/>
              </a:lnSpc>
              <a:buNone/>
            </a:pPr>
            <a:r>
              <a:rPr lang="en-US" sz="1650" dirty="0">
                <a:solidFill>
                  <a:srgbClr val="67534F"/>
                </a:solidFill>
                <a:latin typeface="Gotham" pitchFamily="50" charset="0"/>
                <a:ea typeface="Montserrat" pitchFamily="34" charset="-122"/>
                <a:cs typeface="Gotham" pitchFamily="50" charset="0"/>
              </a:rPr>
              <a:t>Both revenue and profit demonstrate consistent upward trends year-over-year, indicating solid business growth momentum despite margin compression challenges.</a:t>
            </a:r>
            <a:endParaRPr lang="en-US" sz="1650" dirty="0">
              <a:latin typeface="Gotham" pitchFamily="50" charset="0"/>
              <a:cs typeface="Gotham" pitchFamily="50" charset="0"/>
            </a:endParaRPr>
          </a:p>
        </p:txBody>
      </p:sp>
      <p:sp>
        <p:nvSpPr>
          <p:cNvPr id="17" name="Text 15"/>
          <p:cNvSpPr/>
          <p:nvPr/>
        </p:nvSpPr>
        <p:spPr>
          <a:xfrm>
            <a:off x="7908846" y="5911334"/>
            <a:ext cx="5935385" cy="819388"/>
          </a:xfrm>
          <a:prstGeom prst="rect">
            <a:avLst/>
          </a:prstGeom>
          <a:noFill/>
          <a:ln/>
        </p:spPr>
        <p:txBody>
          <a:bodyPr wrap="square" lIns="0" tIns="0" rIns="0" bIns="0" rtlCol="0" anchor="t"/>
          <a:lstStyle/>
          <a:p>
            <a:pPr marL="0" indent="0" algn="l">
              <a:lnSpc>
                <a:spcPts val="2150"/>
              </a:lnSpc>
              <a:buNone/>
            </a:pPr>
            <a:r>
              <a:rPr lang="en-US" sz="1650" b="1" dirty="0">
                <a:solidFill>
                  <a:srgbClr val="67534F"/>
                </a:solidFill>
                <a:latin typeface="Gotham" pitchFamily="50" charset="0"/>
                <a:ea typeface="Montserrat" pitchFamily="34" charset="-122"/>
                <a:cs typeface="Gotham" pitchFamily="50" charset="0"/>
              </a:rPr>
              <a:t>December 2016</a:t>
            </a:r>
            <a:r>
              <a:rPr lang="en-US" sz="1650" dirty="0">
                <a:solidFill>
                  <a:srgbClr val="67534F"/>
                </a:solidFill>
                <a:latin typeface="Gotham" pitchFamily="50" charset="0"/>
                <a:ea typeface="Montserrat" pitchFamily="34" charset="-122"/>
                <a:cs typeface="Gotham" pitchFamily="50" charset="0"/>
              </a:rPr>
              <a:t> marked the highest performing month, achieving </a:t>
            </a:r>
            <a:r>
              <a:rPr lang="en-US" sz="1650" b="1" dirty="0">
                <a:solidFill>
                  <a:srgbClr val="1B1B27"/>
                </a:solidFill>
                <a:latin typeface="Gotham" pitchFamily="50" charset="0"/>
                <a:ea typeface="Montserrat" pitchFamily="34" charset="-122"/>
                <a:cs typeface="Gotham" pitchFamily="50" charset="0"/>
              </a:rPr>
              <a:t>$511,540.46</a:t>
            </a:r>
            <a:r>
              <a:rPr lang="en-US" sz="1650" dirty="0">
                <a:solidFill>
                  <a:srgbClr val="67534F"/>
                </a:solidFill>
                <a:latin typeface="Gotham" pitchFamily="50" charset="0"/>
                <a:ea typeface="Montserrat" pitchFamily="34" charset="-122"/>
                <a:cs typeface="Gotham" pitchFamily="50" charset="0"/>
              </a:rPr>
              <a:t> in revenue and </a:t>
            </a:r>
            <a:r>
              <a:rPr lang="en-US" sz="1650" b="1" dirty="0">
                <a:solidFill>
                  <a:srgbClr val="1B1B27"/>
                </a:solidFill>
                <a:latin typeface="Gotham" pitchFamily="50" charset="0"/>
                <a:ea typeface="Montserrat" pitchFamily="34" charset="-122"/>
                <a:cs typeface="Gotham" pitchFamily="50" charset="0"/>
              </a:rPr>
              <a:t>$17,885.31</a:t>
            </a:r>
            <a:r>
              <a:rPr lang="en-US" sz="1650" dirty="0">
                <a:solidFill>
                  <a:srgbClr val="67534F"/>
                </a:solidFill>
                <a:latin typeface="Gotham" pitchFamily="50" charset="0"/>
                <a:ea typeface="Montserrat" pitchFamily="34" charset="-122"/>
                <a:cs typeface="Gotham" pitchFamily="50" charset="0"/>
              </a:rPr>
              <a:t> in profit.</a:t>
            </a:r>
            <a:endParaRPr lang="en-US" sz="1650" dirty="0">
              <a:latin typeface="Gotham" pitchFamily="50" charset="0"/>
              <a:cs typeface="Gotham" pitchFamily="50" charset="0"/>
            </a:endParaRPr>
          </a:p>
        </p:txBody>
      </p:sp>
      <p:sp>
        <p:nvSpPr>
          <p:cNvPr id="18" name="Shape 16"/>
          <p:cNvSpPr/>
          <p:nvPr/>
        </p:nvSpPr>
        <p:spPr>
          <a:xfrm>
            <a:off x="7585710" y="5911334"/>
            <a:ext cx="30480" cy="819388"/>
          </a:xfrm>
          <a:prstGeom prst="rect">
            <a:avLst/>
          </a:prstGeom>
          <a:solidFill>
            <a:srgbClr val="FF954F"/>
          </a:solidFill>
          <a:ln/>
        </p:spPr>
      </p:sp>
      <p:sp>
        <p:nvSpPr>
          <p:cNvPr id="19" name="Rectangle 18">
            <a:extLst>
              <a:ext uri="{FF2B5EF4-FFF2-40B4-BE49-F238E27FC236}">
                <a16:creationId xmlns:a16="http://schemas.microsoft.com/office/drawing/2014/main" id="{FD369A10-31DA-61A7-0780-B33EA9AA6B28}"/>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DFAE22-AAE7-C458-C51B-509B3B5265A6}"/>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a:extLst>
              <a:ext uri="{FF2B5EF4-FFF2-40B4-BE49-F238E27FC236}">
                <a16:creationId xmlns:a16="http://schemas.microsoft.com/office/drawing/2014/main" id="{ADE894A8-DB2F-C54A-C6F5-A44F4459B483}"/>
              </a:ext>
            </a:extLst>
          </p:cNvPr>
          <p:cNvPicPr>
            <a:picLocks noChangeAspect="1"/>
          </p:cNvPicPr>
          <p:nvPr/>
        </p:nvPicPr>
        <p:blipFill>
          <a:blip r:embed="rId2"/>
          <a:stretch>
            <a:fillRect/>
          </a:stretch>
        </p:blipFill>
        <p:spPr>
          <a:xfrm>
            <a:off x="0" y="556794"/>
            <a:ext cx="7216659" cy="2660942"/>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76C2F040-757B-5F52-8D46-BA532B126626}"/>
              </a:ext>
            </a:extLst>
          </p:cNvPr>
          <p:cNvPicPr>
            <a:picLocks noChangeAspect="1"/>
          </p:cNvPicPr>
          <p:nvPr/>
        </p:nvPicPr>
        <p:blipFill>
          <a:blip r:embed="rId3"/>
          <a:stretch>
            <a:fillRect/>
          </a:stretch>
        </p:blipFill>
        <p:spPr>
          <a:xfrm>
            <a:off x="7413743" y="556795"/>
            <a:ext cx="7216659" cy="2660942"/>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EF78E77B-3A57-73DC-85A7-68D625CFD2B6}"/>
              </a:ext>
            </a:extLst>
          </p:cNvPr>
          <p:cNvPicPr>
            <a:picLocks noChangeAspect="1"/>
          </p:cNvPicPr>
          <p:nvPr/>
        </p:nvPicPr>
        <p:blipFill>
          <a:blip r:embed="rId4"/>
          <a:stretch>
            <a:fillRect/>
          </a:stretch>
        </p:blipFill>
        <p:spPr>
          <a:xfrm>
            <a:off x="1414380" y="3335545"/>
            <a:ext cx="11998726" cy="4768325"/>
          </a:xfrm>
          <a:prstGeom prst="rect">
            <a:avLst/>
          </a:prstGeom>
          <a:effectLst>
            <a:outerShdw blurRad="50800" dist="38100" dir="5400000" algn="t" rotWithShape="0">
              <a:prstClr val="black">
                <a:alpha val="40000"/>
              </a:prstClr>
            </a:outerShdw>
          </a:effectLst>
        </p:spPr>
      </p:pic>
      <p:sp>
        <p:nvSpPr>
          <p:cNvPr id="10" name="TextBox 9">
            <a:extLst>
              <a:ext uri="{FF2B5EF4-FFF2-40B4-BE49-F238E27FC236}">
                <a16:creationId xmlns:a16="http://schemas.microsoft.com/office/drawing/2014/main" id="{78053CB1-C347-FF35-0857-1D9245F6AFCA}"/>
              </a:ext>
            </a:extLst>
          </p:cNvPr>
          <p:cNvSpPr txBox="1"/>
          <p:nvPr/>
        </p:nvSpPr>
        <p:spPr>
          <a:xfrm>
            <a:off x="302895" y="-255778"/>
            <a:ext cx="1251585" cy="753668"/>
          </a:xfrm>
          <a:prstGeom prst="rect">
            <a:avLst/>
          </a:prstGeom>
          <a:noFill/>
        </p:spPr>
        <p:txBody>
          <a:bodyPr wrap="square">
            <a:spAutoFit/>
          </a:bodyPr>
          <a:lstStyle/>
          <a:p>
            <a:pPr marL="0" indent="0" algn="l">
              <a:lnSpc>
                <a:spcPts val="6300"/>
              </a:lnSpc>
              <a:buNone/>
            </a:pPr>
            <a:r>
              <a:rPr lang="en-US" sz="1800" dirty="0">
                <a:solidFill>
                  <a:srgbClr val="532418"/>
                </a:solidFill>
                <a:latin typeface="Gotham Black" pitchFamily="50" charset="0"/>
                <a:ea typeface="Marcellus" pitchFamily="34" charset="-122"/>
                <a:cs typeface="Gotham Black" pitchFamily="50" charset="0"/>
              </a:rPr>
              <a:t>Trends</a:t>
            </a:r>
            <a:endParaRPr lang="en-US" sz="1800" dirty="0">
              <a:latin typeface="Gotham Black" pitchFamily="50" charset="0"/>
              <a:cs typeface="Gotham Black" pitchFamily="50" charset="0"/>
            </a:endParaRPr>
          </a:p>
        </p:txBody>
      </p:sp>
    </p:spTree>
    <p:extLst>
      <p:ext uri="{BB962C8B-B14F-4D97-AF65-F5344CB8AC3E}">
        <p14:creationId xmlns:p14="http://schemas.microsoft.com/office/powerpoint/2010/main" val="123457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93790" y="771882"/>
            <a:ext cx="5227915" cy="551021"/>
          </a:xfrm>
          <a:prstGeom prst="rect">
            <a:avLst/>
          </a:prstGeom>
          <a:noFill/>
          <a:ln/>
        </p:spPr>
        <p:txBody>
          <a:bodyPr wrap="none" lIns="0" tIns="0" rIns="0" bIns="0" rtlCol="0" anchor="t"/>
          <a:lstStyle/>
          <a:p>
            <a:pPr marL="0" indent="0" algn="l">
              <a:lnSpc>
                <a:spcPts val="4300"/>
              </a:lnSpc>
              <a:buNone/>
            </a:pPr>
            <a:r>
              <a:rPr lang="en-US" sz="3300" dirty="0">
                <a:solidFill>
                  <a:srgbClr val="532418"/>
                </a:solidFill>
                <a:latin typeface="Gotham Black" pitchFamily="50" charset="0"/>
                <a:ea typeface="Marcellus" pitchFamily="34" charset="-122"/>
                <a:cs typeface="Gotham Black" pitchFamily="50" charset="0"/>
              </a:rPr>
              <a:t>Regional &amp; Market Analysis</a:t>
            </a:r>
            <a:endParaRPr lang="en-US" sz="3300" dirty="0">
              <a:latin typeface="Gotham Black" pitchFamily="50" charset="0"/>
              <a:cs typeface="Gotham Black" pitchFamily="50" charset="0"/>
            </a:endParaRPr>
          </a:p>
        </p:txBody>
      </p:sp>
      <p:sp>
        <p:nvSpPr>
          <p:cNvPr id="4" name="Shape 1"/>
          <p:cNvSpPr/>
          <p:nvPr/>
        </p:nvSpPr>
        <p:spPr>
          <a:xfrm>
            <a:off x="793790" y="1466612"/>
            <a:ext cx="7556421" cy="1246942"/>
          </a:xfrm>
          <a:prstGeom prst="roundRect">
            <a:avLst>
              <a:gd name="adj" fmla="val 4966"/>
            </a:avLst>
          </a:prstGeom>
          <a:solidFill>
            <a:srgbClr val="FFFFF4">
              <a:alpha val="95000"/>
            </a:srgbClr>
          </a:solidFill>
          <a:ln w="15240">
            <a:solidFill>
              <a:srgbClr val="FFE0CC"/>
            </a:solidFill>
            <a:prstDash val="solid"/>
          </a:ln>
        </p:spPr>
      </p:sp>
      <p:sp>
        <p:nvSpPr>
          <p:cNvPr id="5" name="Shape 2"/>
          <p:cNvSpPr/>
          <p:nvPr/>
        </p:nvSpPr>
        <p:spPr>
          <a:xfrm>
            <a:off x="809030" y="1481852"/>
            <a:ext cx="589717" cy="1216462"/>
          </a:xfrm>
          <a:prstGeom prst="roundRect">
            <a:avLst>
              <a:gd name="adj" fmla="val 7399"/>
            </a:avLst>
          </a:prstGeom>
          <a:solidFill>
            <a:srgbClr val="FFFFF4"/>
          </a:solidFill>
          <a:ln/>
        </p:spPr>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5718" y="1979414"/>
            <a:ext cx="221099" cy="221099"/>
          </a:xfrm>
          <a:prstGeom prst="rect">
            <a:avLst/>
          </a:prstGeom>
        </p:spPr>
      </p:pic>
      <p:sp>
        <p:nvSpPr>
          <p:cNvPr id="7" name="Text 3"/>
          <p:cNvSpPr/>
          <p:nvPr/>
        </p:nvSpPr>
        <p:spPr>
          <a:xfrm>
            <a:off x="1494473" y="1629251"/>
            <a:ext cx="2119313" cy="275511"/>
          </a:xfrm>
          <a:prstGeom prst="rect">
            <a:avLst/>
          </a:prstGeom>
          <a:noFill/>
          <a:ln/>
        </p:spPr>
        <p:txBody>
          <a:bodyPr wrap="none" lIns="0" tIns="0" rIns="0" bIns="0" rtlCol="0" anchor="t"/>
          <a:lstStyle/>
          <a:p>
            <a:pPr marL="0" indent="0" algn="l">
              <a:lnSpc>
                <a:spcPts val="2150"/>
              </a:lnSpc>
              <a:buNone/>
            </a:pPr>
            <a:r>
              <a:rPr lang="en-US" sz="1650" dirty="0">
                <a:solidFill>
                  <a:srgbClr val="67534F"/>
                </a:solidFill>
                <a:latin typeface="Gotham" pitchFamily="50" charset="0"/>
                <a:ea typeface="Marcellus" pitchFamily="34" charset="-122"/>
                <a:cs typeface="Gotham" pitchFamily="50" charset="0"/>
              </a:rPr>
              <a:t>West Region</a:t>
            </a:r>
            <a:endParaRPr lang="en-US" sz="1650" dirty="0">
              <a:latin typeface="Gotham" pitchFamily="50" charset="0"/>
              <a:cs typeface="Gotham" pitchFamily="50" charset="0"/>
            </a:endParaRPr>
          </a:p>
        </p:txBody>
      </p:sp>
      <p:sp>
        <p:nvSpPr>
          <p:cNvPr id="8" name="Text 4"/>
          <p:cNvSpPr/>
          <p:nvPr/>
        </p:nvSpPr>
        <p:spPr>
          <a:xfrm>
            <a:off x="1494473" y="1962150"/>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Revenue:</a:t>
            </a:r>
            <a:r>
              <a:rPr lang="en-US" sz="1150" dirty="0">
                <a:solidFill>
                  <a:srgbClr val="67534F"/>
                </a:solidFill>
                <a:latin typeface="Gotham" pitchFamily="50" charset="0"/>
                <a:ea typeface="Montserrat" pitchFamily="34" charset="-122"/>
                <a:cs typeface="Gotham" pitchFamily="50" charset="0"/>
              </a:rPr>
              <a:t> $3,142,034</a:t>
            </a:r>
            <a:endParaRPr lang="en-US" sz="1150" dirty="0">
              <a:latin typeface="Gotham" pitchFamily="50" charset="0"/>
              <a:cs typeface="Gotham" pitchFamily="50" charset="0"/>
            </a:endParaRPr>
          </a:p>
        </p:txBody>
      </p:sp>
      <p:sp>
        <p:nvSpPr>
          <p:cNvPr id="9" name="Text 5"/>
          <p:cNvSpPr/>
          <p:nvPr/>
        </p:nvSpPr>
        <p:spPr>
          <a:xfrm>
            <a:off x="1494473" y="2177534"/>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Profit:</a:t>
            </a:r>
            <a:r>
              <a:rPr lang="en-US" sz="1150" dirty="0">
                <a:solidFill>
                  <a:srgbClr val="67534F"/>
                </a:solidFill>
                <a:latin typeface="Gotham" pitchFamily="50" charset="0"/>
                <a:ea typeface="Montserrat" pitchFamily="34" charset="-122"/>
                <a:cs typeface="Gotham" pitchFamily="50" charset="0"/>
              </a:rPr>
              <a:t> $108,418.45</a:t>
            </a:r>
            <a:endParaRPr lang="en-US" sz="1150" dirty="0">
              <a:latin typeface="Gotham" pitchFamily="50" charset="0"/>
              <a:cs typeface="Gotham" pitchFamily="50" charset="0"/>
            </a:endParaRPr>
          </a:p>
        </p:txBody>
      </p:sp>
      <p:sp>
        <p:nvSpPr>
          <p:cNvPr id="10" name="Text 6"/>
          <p:cNvSpPr/>
          <p:nvPr/>
        </p:nvSpPr>
        <p:spPr>
          <a:xfrm>
            <a:off x="1494473" y="2392918"/>
            <a:ext cx="6693098" cy="157996"/>
          </a:xfrm>
          <a:prstGeom prst="rect">
            <a:avLst/>
          </a:prstGeom>
          <a:noFill/>
          <a:ln/>
        </p:spPr>
        <p:txBody>
          <a:bodyPr wrap="none" lIns="0" tIns="0" rIns="0" bIns="0" rtlCol="0" anchor="t"/>
          <a:lstStyle/>
          <a:p>
            <a:pPr marL="0" indent="0" algn="l">
              <a:lnSpc>
                <a:spcPts val="1200"/>
              </a:lnSpc>
              <a:buNone/>
            </a:pPr>
            <a:r>
              <a:rPr lang="en-US" sz="1150" dirty="0">
                <a:solidFill>
                  <a:srgbClr val="67534F"/>
                </a:solidFill>
                <a:highlight>
                  <a:srgbClr val="90EE90"/>
                </a:highlight>
                <a:latin typeface="Gotham" pitchFamily="50" charset="0"/>
                <a:ea typeface="Montserrat" pitchFamily="34" charset="-122"/>
                <a:cs typeface="Gotham" pitchFamily="50" charset="0"/>
              </a:rPr>
              <a:t>Profit Margin: 21.95%</a:t>
            </a:r>
            <a:r>
              <a:rPr lang="en-US" sz="1150" dirty="0">
                <a:solidFill>
                  <a:srgbClr val="67534F"/>
                </a:solidFill>
                <a:latin typeface="Gotham" pitchFamily="50" charset="0"/>
                <a:ea typeface="Montserrat" pitchFamily="34" charset="-122"/>
                <a:cs typeface="Gotham" pitchFamily="50" charset="0"/>
              </a:rPr>
              <a:t> — Strongest performer with exceptional profitability</a:t>
            </a:r>
            <a:endParaRPr lang="en-US" sz="1150" dirty="0">
              <a:latin typeface="Gotham" pitchFamily="50" charset="0"/>
              <a:cs typeface="Gotham" pitchFamily="50" charset="0"/>
            </a:endParaRPr>
          </a:p>
        </p:txBody>
      </p:sp>
      <p:sp>
        <p:nvSpPr>
          <p:cNvPr id="11" name="Shape 7"/>
          <p:cNvSpPr/>
          <p:nvPr/>
        </p:nvSpPr>
        <p:spPr>
          <a:xfrm>
            <a:off x="793790" y="2809280"/>
            <a:ext cx="7556421" cy="1246942"/>
          </a:xfrm>
          <a:prstGeom prst="roundRect">
            <a:avLst>
              <a:gd name="adj" fmla="val 4966"/>
            </a:avLst>
          </a:prstGeom>
          <a:solidFill>
            <a:srgbClr val="FFFFF4">
              <a:alpha val="95000"/>
            </a:srgbClr>
          </a:solidFill>
          <a:ln w="15240">
            <a:solidFill>
              <a:srgbClr val="FFE0CC"/>
            </a:solidFill>
            <a:prstDash val="solid"/>
          </a:ln>
        </p:spPr>
      </p:sp>
      <p:sp>
        <p:nvSpPr>
          <p:cNvPr id="12" name="Shape 8"/>
          <p:cNvSpPr/>
          <p:nvPr/>
        </p:nvSpPr>
        <p:spPr>
          <a:xfrm>
            <a:off x="809030" y="2824520"/>
            <a:ext cx="589717" cy="1216462"/>
          </a:xfrm>
          <a:prstGeom prst="roundRect">
            <a:avLst>
              <a:gd name="adj" fmla="val 7399"/>
            </a:avLst>
          </a:prstGeom>
          <a:solidFill>
            <a:srgbClr val="FFFFF4"/>
          </a:solidFill>
          <a:ln/>
        </p:spPr>
      </p:sp>
      <p:pic>
        <p:nvPicPr>
          <p:cNvPr id="13"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5718" y="3322082"/>
            <a:ext cx="221099" cy="221099"/>
          </a:xfrm>
          <a:prstGeom prst="rect">
            <a:avLst/>
          </a:prstGeom>
        </p:spPr>
      </p:pic>
      <p:sp>
        <p:nvSpPr>
          <p:cNvPr id="14" name="Text 9"/>
          <p:cNvSpPr/>
          <p:nvPr/>
        </p:nvSpPr>
        <p:spPr>
          <a:xfrm>
            <a:off x="1494473" y="2971919"/>
            <a:ext cx="2119313" cy="275511"/>
          </a:xfrm>
          <a:prstGeom prst="rect">
            <a:avLst/>
          </a:prstGeom>
          <a:noFill/>
          <a:ln/>
        </p:spPr>
        <p:txBody>
          <a:bodyPr wrap="none" lIns="0" tIns="0" rIns="0" bIns="0" rtlCol="0" anchor="t"/>
          <a:lstStyle/>
          <a:p>
            <a:pPr marL="0" indent="0" algn="l">
              <a:lnSpc>
                <a:spcPts val="2150"/>
              </a:lnSpc>
              <a:buNone/>
            </a:pPr>
            <a:r>
              <a:rPr lang="en-US" sz="1650" dirty="0">
                <a:solidFill>
                  <a:srgbClr val="67534F"/>
                </a:solidFill>
                <a:latin typeface="Gotham" pitchFamily="50" charset="0"/>
                <a:ea typeface="Marcellus" pitchFamily="34" charset="-122"/>
                <a:cs typeface="Gotham" pitchFamily="50" charset="0"/>
              </a:rPr>
              <a:t>Central Region</a:t>
            </a:r>
            <a:endParaRPr lang="en-US" sz="1650" dirty="0">
              <a:latin typeface="Gotham" pitchFamily="50" charset="0"/>
              <a:cs typeface="Gotham" pitchFamily="50" charset="0"/>
            </a:endParaRPr>
          </a:p>
        </p:txBody>
      </p:sp>
      <p:sp>
        <p:nvSpPr>
          <p:cNvPr id="15" name="Text 10"/>
          <p:cNvSpPr/>
          <p:nvPr/>
        </p:nvSpPr>
        <p:spPr>
          <a:xfrm>
            <a:off x="1494473" y="3304818"/>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Revenue:</a:t>
            </a:r>
            <a:r>
              <a:rPr lang="en-US" sz="1150" dirty="0">
                <a:solidFill>
                  <a:srgbClr val="67534F"/>
                </a:solidFill>
                <a:latin typeface="Gotham" pitchFamily="50" charset="0"/>
                <a:ea typeface="Montserrat" pitchFamily="34" charset="-122"/>
                <a:cs typeface="Gotham" pitchFamily="50" charset="0"/>
              </a:rPr>
              <a:t> $2,099,688</a:t>
            </a:r>
            <a:endParaRPr lang="en-US" sz="1150" dirty="0">
              <a:latin typeface="Gotham" pitchFamily="50" charset="0"/>
              <a:cs typeface="Gotham" pitchFamily="50" charset="0"/>
            </a:endParaRPr>
          </a:p>
        </p:txBody>
      </p:sp>
      <p:sp>
        <p:nvSpPr>
          <p:cNvPr id="16" name="Text 11"/>
          <p:cNvSpPr/>
          <p:nvPr/>
        </p:nvSpPr>
        <p:spPr>
          <a:xfrm>
            <a:off x="1494473" y="3520202"/>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Profit:</a:t>
            </a:r>
            <a:r>
              <a:rPr lang="en-US" sz="1150" dirty="0">
                <a:solidFill>
                  <a:srgbClr val="67534F"/>
                </a:solidFill>
                <a:latin typeface="Gotham" pitchFamily="50" charset="0"/>
                <a:ea typeface="Montserrat" pitchFamily="34" charset="-122"/>
                <a:cs typeface="Gotham" pitchFamily="50" charset="0"/>
              </a:rPr>
              <a:t> Negative</a:t>
            </a:r>
            <a:endParaRPr lang="en-US" sz="1150" dirty="0">
              <a:latin typeface="Gotham" pitchFamily="50" charset="0"/>
              <a:cs typeface="Gotham" pitchFamily="50" charset="0"/>
            </a:endParaRPr>
          </a:p>
        </p:txBody>
      </p:sp>
      <p:sp>
        <p:nvSpPr>
          <p:cNvPr id="17" name="Text 12"/>
          <p:cNvSpPr/>
          <p:nvPr/>
        </p:nvSpPr>
        <p:spPr>
          <a:xfrm>
            <a:off x="1494473" y="3735586"/>
            <a:ext cx="6693098" cy="157996"/>
          </a:xfrm>
          <a:prstGeom prst="rect">
            <a:avLst/>
          </a:prstGeom>
          <a:noFill/>
          <a:ln/>
        </p:spPr>
        <p:txBody>
          <a:bodyPr wrap="none" lIns="0" tIns="0" rIns="0" bIns="0" rtlCol="0" anchor="t"/>
          <a:lstStyle/>
          <a:p>
            <a:pPr marL="0" indent="0" algn="l">
              <a:lnSpc>
                <a:spcPts val="1200"/>
              </a:lnSpc>
              <a:buNone/>
            </a:pPr>
            <a:r>
              <a:rPr lang="en-US" sz="1150" dirty="0">
                <a:solidFill>
                  <a:srgbClr val="67534F"/>
                </a:solidFill>
                <a:highlight>
                  <a:srgbClr val="FFB6C6"/>
                </a:highlight>
                <a:latin typeface="Gotham" pitchFamily="50" charset="0"/>
                <a:ea typeface="Montserrat" pitchFamily="34" charset="-122"/>
                <a:cs typeface="Gotham" pitchFamily="50" charset="0"/>
              </a:rPr>
              <a:t>Profit Margin: -10.41%</a:t>
            </a:r>
            <a:r>
              <a:rPr lang="en-US" sz="1150" dirty="0">
                <a:solidFill>
                  <a:srgbClr val="67534F"/>
                </a:solidFill>
                <a:latin typeface="Gotham" pitchFamily="50" charset="0"/>
                <a:ea typeface="Montserrat" pitchFamily="34" charset="-122"/>
                <a:cs typeface="Gotham" pitchFamily="50" charset="0"/>
              </a:rPr>
              <a:t> — Critical concern requiring immediate corrective action</a:t>
            </a:r>
            <a:endParaRPr lang="en-US" sz="1150" dirty="0">
              <a:latin typeface="Gotham" pitchFamily="50" charset="0"/>
              <a:cs typeface="Gotham" pitchFamily="50" charset="0"/>
            </a:endParaRPr>
          </a:p>
        </p:txBody>
      </p:sp>
      <p:sp>
        <p:nvSpPr>
          <p:cNvPr id="18" name="Shape 13"/>
          <p:cNvSpPr/>
          <p:nvPr/>
        </p:nvSpPr>
        <p:spPr>
          <a:xfrm>
            <a:off x="793790" y="4151947"/>
            <a:ext cx="7556421" cy="1246942"/>
          </a:xfrm>
          <a:prstGeom prst="roundRect">
            <a:avLst>
              <a:gd name="adj" fmla="val 4966"/>
            </a:avLst>
          </a:prstGeom>
          <a:solidFill>
            <a:srgbClr val="FFFFF4">
              <a:alpha val="95000"/>
            </a:srgbClr>
          </a:solidFill>
          <a:ln w="15240">
            <a:solidFill>
              <a:srgbClr val="FFE0CC"/>
            </a:solidFill>
            <a:prstDash val="solid"/>
          </a:ln>
        </p:spPr>
      </p:sp>
      <p:sp>
        <p:nvSpPr>
          <p:cNvPr id="19" name="Shape 14"/>
          <p:cNvSpPr/>
          <p:nvPr/>
        </p:nvSpPr>
        <p:spPr>
          <a:xfrm>
            <a:off x="809030" y="4167188"/>
            <a:ext cx="589717" cy="1216462"/>
          </a:xfrm>
          <a:prstGeom prst="roundRect">
            <a:avLst>
              <a:gd name="adj" fmla="val 7399"/>
            </a:avLst>
          </a:prstGeom>
          <a:solidFill>
            <a:srgbClr val="FFFFF4"/>
          </a:solidFill>
          <a:ln/>
        </p:spPr>
      </p:sp>
      <p:pic>
        <p:nvPicPr>
          <p:cNvPr id="2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5718" y="4664750"/>
            <a:ext cx="221099" cy="221099"/>
          </a:xfrm>
          <a:prstGeom prst="rect">
            <a:avLst/>
          </a:prstGeom>
        </p:spPr>
      </p:pic>
      <p:sp>
        <p:nvSpPr>
          <p:cNvPr id="21" name="Text 15"/>
          <p:cNvSpPr/>
          <p:nvPr/>
        </p:nvSpPr>
        <p:spPr>
          <a:xfrm>
            <a:off x="1494473" y="4314587"/>
            <a:ext cx="2119313" cy="275511"/>
          </a:xfrm>
          <a:prstGeom prst="rect">
            <a:avLst/>
          </a:prstGeom>
          <a:noFill/>
          <a:ln/>
        </p:spPr>
        <p:txBody>
          <a:bodyPr wrap="none" lIns="0" tIns="0" rIns="0" bIns="0" rtlCol="0" anchor="t"/>
          <a:lstStyle/>
          <a:p>
            <a:pPr marL="0" indent="0" algn="l">
              <a:lnSpc>
                <a:spcPts val="2150"/>
              </a:lnSpc>
              <a:buNone/>
            </a:pPr>
            <a:r>
              <a:rPr lang="en-US" sz="1650" dirty="0">
                <a:solidFill>
                  <a:srgbClr val="67534F"/>
                </a:solidFill>
                <a:latin typeface="Gotham" pitchFamily="50" charset="0"/>
                <a:ea typeface="Marcellus" pitchFamily="34" charset="-122"/>
                <a:cs typeface="Gotham" pitchFamily="50" charset="0"/>
              </a:rPr>
              <a:t>South Region</a:t>
            </a:r>
            <a:endParaRPr lang="en-US" sz="1650" dirty="0">
              <a:latin typeface="Gotham" pitchFamily="50" charset="0"/>
              <a:cs typeface="Gotham" pitchFamily="50" charset="0"/>
            </a:endParaRPr>
          </a:p>
        </p:txBody>
      </p:sp>
      <p:sp>
        <p:nvSpPr>
          <p:cNvPr id="22" name="Text 16"/>
          <p:cNvSpPr/>
          <p:nvPr/>
        </p:nvSpPr>
        <p:spPr>
          <a:xfrm>
            <a:off x="1494473" y="4647486"/>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Revenue:</a:t>
            </a:r>
            <a:r>
              <a:rPr lang="en-US" sz="1150" dirty="0">
                <a:solidFill>
                  <a:srgbClr val="67534F"/>
                </a:solidFill>
                <a:latin typeface="Gotham" pitchFamily="50" charset="0"/>
                <a:ea typeface="Montserrat" pitchFamily="34" charset="-122"/>
                <a:cs typeface="Gotham" pitchFamily="50" charset="0"/>
              </a:rPr>
              <a:t> $1,736,787</a:t>
            </a:r>
            <a:endParaRPr lang="en-US" sz="1150" dirty="0">
              <a:latin typeface="Gotham" pitchFamily="50" charset="0"/>
              <a:cs typeface="Gotham" pitchFamily="50" charset="0"/>
            </a:endParaRPr>
          </a:p>
        </p:txBody>
      </p:sp>
      <p:sp>
        <p:nvSpPr>
          <p:cNvPr id="23" name="Text 17"/>
          <p:cNvSpPr/>
          <p:nvPr/>
        </p:nvSpPr>
        <p:spPr>
          <a:xfrm>
            <a:off x="1494473" y="4862870"/>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Profit:</a:t>
            </a:r>
            <a:r>
              <a:rPr lang="en-US" sz="1150" dirty="0">
                <a:solidFill>
                  <a:srgbClr val="67534F"/>
                </a:solidFill>
                <a:latin typeface="Gotham" pitchFamily="50" charset="0"/>
                <a:ea typeface="Montserrat" pitchFamily="34" charset="-122"/>
                <a:cs typeface="Gotham" pitchFamily="50" charset="0"/>
              </a:rPr>
              <a:t> $46,749.43</a:t>
            </a:r>
            <a:endParaRPr lang="en-US" sz="1150" dirty="0">
              <a:latin typeface="Gotham" pitchFamily="50" charset="0"/>
              <a:cs typeface="Gotham" pitchFamily="50" charset="0"/>
            </a:endParaRPr>
          </a:p>
        </p:txBody>
      </p:sp>
      <p:sp>
        <p:nvSpPr>
          <p:cNvPr id="24" name="Text 18"/>
          <p:cNvSpPr/>
          <p:nvPr/>
        </p:nvSpPr>
        <p:spPr>
          <a:xfrm>
            <a:off x="1494473" y="5078254"/>
            <a:ext cx="6693098" cy="157996"/>
          </a:xfrm>
          <a:prstGeom prst="rect">
            <a:avLst/>
          </a:prstGeom>
          <a:noFill/>
          <a:ln/>
        </p:spPr>
        <p:txBody>
          <a:bodyPr wrap="none" lIns="0" tIns="0" rIns="0" bIns="0" rtlCol="0" anchor="t"/>
          <a:lstStyle/>
          <a:p>
            <a:pPr marL="0" indent="0" algn="l">
              <a:lnSpc>
                <a:spcPts val="1200"/>
              </a:lnSpc>
              <a:buNone/>
            </a:pPr>
            <a:r>
              <a:rPr lang="en-US" sz="1150" dirty="0">
                <a:solidFill>
                  <a:srgbClr val="67534F"/>
                </a:solidFill>
                <a:highlight>
                  <a:srgbClr val="ADD8E6"/>
                </a:highlight>
                <a:latin typeface="Gotham" pitchFamily="50" charset="0"/>
                <a:ea typeface="Montserrat" pitchFamily="34" charset="-122"/>
                <a:cs typeface="Gotham" pitchFamily="50" charset="0"/>
              </a:rPr>
              <a:t>Profit Margin: 16.35%</a:t>
            </a:r>
            <a:r>
              <a:rPr lang="en-US" sz="1150" dirty="0">
                <a:solidFill>
                  <a:srgbClr val="67534F"/>
                </a:solidFill>
                <a:latin typeface="Gotham" pitchFamily="50" charset="0"/>
                <a:ea typeface="Montserrat" pitchFamily="34" charset="-122"/>
                <a:cs typeface="Gotham" pitchFamily="50" charset="0"/>
              </a:rPr>
              <a:t> — Solid performance with healthy profitability</a:t>
            </a:r>
            <a:endParaRPr lang="en-US" sz="1150" dirty="0">
              <a:latin typeface="Gotham" pitchFamily="50" charset="0"/>
              <a:cs typeface="Gotham" pitchFamily="50" charset="0"/>
            </a:endParaRPr>
          </a:p>
        </p:txBody>
      </p:sp>
      <p:sp>
        <p:nvSpPr>
          <p:cNvPr id="25" name="Shape 19"/>
          <p:cNvSpPr/>
          <p:nvPr/>
        </p:nvSpPr>
        <p:spPr>
          <a:xfrm>
            <a:off x="793790" y="5494615"/>
            <a:ext cx="7556421" cy="1246942"/>
          </a:xfrm>
          <a:prstGeom prst="roundRect">
            <a:avLst>
              <a:gd name="adj" fmla="val 4966"/>
            </a:avLst>
          </a:prstGeom>
          <a:solidFill>
            <a:srgbClr val="FFFFF4">
              <a:alpha val="95000"/>
            </a:srgbClr>
          </a:solidFill>
          <a:ln w="15240">
            <a:solidFill>
              <a:srgbClr val="FFE0CC"/>
            </a:solidFill>
            <a:prstDash val="solid"/>
          </a:ln>
        </p:spPr>
      </p:sp>
      <p:sp>
        <p:nvSpPr>
          <p:cNvPr id="26" name="Shape 20"/>
          <p:cNvSpPr/>
          <p:nvPr/>
        </p:nvSpPr>
        <p:spPr>
          <a:xfrm>
            <a:off x="809030" y="5509855"/>
            <a:ext cx="589717" cy="1216462"/>
          </a:xfrm>
          <a:prstGeom prst="roundRect">
            <a:avLst>
              <a:gd name="adj" fmla="val 7399"/>
            </a:avLst>
          </a:prstGeom>
          <a:solidFill>
            <a:srgbClr val="FFFFF4"/>
          </a:solidFill>
          <a:ln/>
        </p:spPr>
      </p:sp>
      <p:pic>
        <p:nvPicPr>
          <p:cNvPr id="27"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5718" y="6007418"/>
            <a:ext cx="221099" cy="221099"/>
          </a:xfrm>
          <a:prstGeom prst="rect">
            <a:avLst/>
          </a:prstGeom>
        </p:spPr>
      </p:pic>
      <p:sp>
        <p:nvSpPr>
          <p:cNvPr id="28" name="Text 21"/>
          <p:cNvSpPr/>
          <p:nvPr/>
        </p:nvSpPr>
        <p:spPr>
          <a:xfrm>
            <a:off x="1494473" y="5657255"/>
            <a:ext cx="2119313" cy="275511"/>
          </a:xfrm>
          <a:prstGeom prst="rect">
            <a:avLst/>
          </a:prstGeom>
          <a:noFill/>
          <a:ln/>
        </p:spPr>
        <p:txBody>
          <a:bodyPr wrap="none" lIns="0" tIns="0" rIns="0" bIns="0" rtlCol="0" anchor="t"/>
          <a:lstStyle/>
          <a:p>
            <a:pPr marL="0" indent="0" algn="l">
              <a:lnSpc>
                <a:spcPts val="2150"/>
              </a:lnSpc>
              <a:buNone/>
            </a:pPr>
            <a:r>
              <a:rPr lang="en-US" sz="1650" dirty="0">
                <a:solidFill>
                  <a:srgbClr val="67534F"/>
                </a:solidFill>
                <a:latin typeface="Gotham" pitchFamily="50" charset="0"/>
                <a:ea typeface="Marcellus" pitchFamily="34" charset="-122"/>
                <a:cs typeface="Gotham" pitchFamily="50" charset="0"/>
              </a:rPr>
              <a:t>East Region</a:t>
            </a:r>
            <a:endParaRPr lang="en-US" sz="1650" dirty="0">
              <a:latin typeface="Gotham" pitchFamily="50" charset="0"/>
              <a:cs typeface="Gotham" pitchFamily="50" charset="0"/>
            </a:endParaRPr>
          </a:p>
        </p:txBody>
      </p:sp>
      <p:sp>
        <p:nvSpPr>
          <p:cNvPr id="29" name="Text 22"/>
          <p:cNvSpPr/>
          <p:nvPr/>
        </p:nvSpPr>
        <p:spPr>
          <a:xfrm>
            <a:off x="1494473" y="5990153"/>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Revenue:</a:t>
            </a:r>
            <a:r>
              <a:rPr lang="en-US" sz="1150" dirty="0">
                <a:solidFill>
                  <a:srgbClr val="67534F"/>
                </a:solidFill>
                <a:latin typeface="Gotham" pitchFamily="50" charset="0"/>
                <a:ea typeface="Montserrat" pitchFamily="34" charset="-122"/>
                <a:cs typeface="Gotham" pitchFamily="50" charset="0"/>
              </a:rPr>
              <a:t> Significant contributor</a:t>
            </a:r>
            <a:endParaRPr lang="en-US" sz="1150" dirty="0">
              <a:latin typeface="Gotham" pitchFamily="50" charset="0"/>
              <a:cs typeface="Gotham" pitchFamily="50" charset="0"/>
            </a:endParaRPr>
          </a:p>
        </p:txBody>
      </p:sp>
      <p:sp>
        <p:nvSpPr>
          <p:cNvPr id="30" name="Text 23"/>
          <p:cNvSpPr/>
          <p:nvPr/>
        </p:nvSpPr>
        <p:spPr>
          <a:xfrm>
            <a:off x="1494473" y="6205538"/>
            <a:ext cx="6693098" cy="157996"/>
          </a:xfrm>
          <a:prstGeom prst="rect">
            <a:avLst/>
          </a:prstGeom>
          <a:noFill/>
          <a:ln/>
        </p:spPr>
        <p:txBody>
          <a:bodyPr wrap="none" lIns="0" tIns="0" rIns="0" bIns="0" rtlCol="0" anchor="t"/>
          <a:lstStyle/>
          <a:p>
            <a:pPr marL="0" indent="0" algn="l">
              <a:lnSpc>
                <a:spcPts val="1200"/>
              </a:lnSpc>
              <a:buNone/>
            </a:pPr>
            <a:r>
              <a:rPr lang="en-US" sz="1150" b="1" dirty="0">
                <a:solidFill>
                  <a:srgbClr val="67534F"/>
                </a:solidFill>
                <a:latin typeface="Gotham" pitchFamily="50" charset="0"/>
                <a:ea typeface="Montserrat" pitchFamily="34" charset="-122"/>
                <a:cs typeface="Gotham" pitchFamily="50" charset="0"/>
              </a:rPr>
              <a:t>Profit:</a:t>
            </a:r>
            <a:r>
              <a:rPr lang="en-US" sz="1150" dirty="0">
                <a:solidFill>
                  <a:srgbClr val="67534F"/>
                </a:solidFill>
                <a:latin typeface="Gotham" pitchFamily="50" charset="0"/>
                <a:ea typeface="Montserrat" pitchFamily="34" charset="-122"/>
                <a:cs typeface="Gotham" pitchFamily="50" charset="0"/>
              </a:rPr>
              <a:t> Positive</a:t>
            </a:r>
            <a:endParaRPr lang="en-US" sz="1150" dirty="0">
              <a:latin typeface="Gotham" pitchFamily="50" charset="0"/>
              <a:cs typeface="Gotham" pitchFamily="50" charset="0"/>
            </a:endParaRPr>
          </a:p>
        </p:txBody>
      </p:sp>
      <p:sp>
        <p:nvSpPr>
          <p:cNvPr id="31" name="Text 24"/>
          <p:cNvSpPr/>
          <p:nvPr/>
        </p:nvSpPr>
        <p:spPr>
          <a:xfrm>
            <a:off x="1494473" y="6420922"/>
            <a:ext cx="6693098" cy="157996"/>
          </a:xfrm>
          <a:prstGeom prst="rect">
            <a:avLst/>
          </a:prstGeom>
          <a:noFill/>
          <a:ln/>
        </p:spPr>
        <p:txBody>
          <a:bodyPr wrap="none" lIns="0" tIns="0" rIns="0" bIns="0" rtlCol="0" anchor="t"/>
          <a:lstStyle/>
          <a:p>
            <a:pPr marL="0" indent="0" algn="l">
              <a:lnSpc>
                <a:spcPts val="1200"/>
              </a:lnSpc>
              <a:buNone/>
            </a:pPr>
            <a:r>
              <a:rPr lang="en-US" sz="1150" dirty="0">
                <a:solidFill>
                  <a:srgbClr val="67534F"/>
                </a:solidFill>
                <a:highlight>
                  <a:srgbClr val="ADD8E6"/>
                </a:highlight>
                <a:latin typeface="Gotham" pitchFamily="50" charset="0"/>
                <a:ea typeface="Montserrat" pitchFamily="34" charset="-122"/>
                <a:cs typeface="Gotham" pitchFamily="50" charset="0"/>
              </a:rPr>
              <a:t>Profit Margin: 16.72%</a:t>
            </a:r>
            <a:r>
              <a:rPr lang="en-US" sz="1150" dirty="0">
                <a:solidFill>
                  <a:srgbClr val="67534F"/>
                </a:solidFill>
                <a:latin typeface="Gotham" pitchFamily="50" charset="0"/>
                <a:ea typeface="Montserrat" pitchFamily="34" charset="-122"/>
                <a:cs typeface="Gotham" pitchFamily="50" charset="0"/>
              </a:rPr>
              <a:t> — Consistent and reliable performance</a:t>
            </a:r>
            <a:endParaRPr lang="en-US" sz="1150" dirty="0">
              <a:latin typeface="Gotham" pitchFamily="50" charset="0"/>
              <a:cs typeface="Gotham" pitchFamily="50" charset="0"/>
            </a:endParaRPr>
          </a:p>
        </p:txBody>
      </p:sp>
      <p:sp>
        <p:nvSpPr>
          <p:cNvPr id="32" name="Shape 25"/>
          <p:cNvSpPr/>
          <p:nvPr/>
        </p:nvSpPr>
        <p:spPr>
          <a:xfrm>
            <a:off x="793790" y="6849308"/>
            <a:ext cx="7556421" cy="608409"/>
          </a:xfrm>
          <a:prstGeom prst="roundRect">
            <a:avLst>
              <a:gd name="adj" fmla="val 10178"/>
            </a:avLst>
          </a:prstGeom>
          <a:solidFill>
            <a:srgbClr val="FFD1B3"/>
          </a:solidFill>
          <a:ln/>
        </p:spPr>
      </p:sp>
      <p:pic>
        <p:nvPicPr>
          <p:cNvPr id="33" name="Image 5" descr="preencoded.png"/>
          <p:cNvPicPr>
            <a:picLocks noChangeAspect="1"/>
          </p:cNvPicPr>
          <p:nvPr/>
        </p:nvPicPr>
        <p:blipFill>
          <a:blip r:embed="rId11"/>
          <a:stretch>
            <a:fillRect/>
          </a:stretch>
        </p:blipFill>
        <p:spPr>
          <a:xfrm>
            <a:off x="941189" y="7033974"/>
            <a:ext cx="184190" cy="147399"/>
          </a:xfrm>
          <a:prstGeom prst="rect">
            <a:avLst/>
          </a:prstGeom>
        </p:spPr>
      </p:pic>
      <p:sp>
        <p:nvSpPr>
          <p:cNvPr id="34" name="Text 26"/>
          <p:cNvSpPr/>
          <p:nvPr/>
        </p:nvSpPr>
        <p:spPr>
          <a:xfrm>
            <a:off x="1272778" y="6981825"/>
            <a:ext cx="6930033" cy="315992"/>
          </a:xfrm>
          <a:prstGeom prst="rect">
            <a:avLst/>
          </a:prstGeom>
          <a:noFill/>
          <a:ln/>
        </p:spPr>
        <p:txBody>
          <a:bodyPr wrap="square" lIns="0" tIns="0" rIns="0" bIns="0" rtlCol="0" anchor="t"/>
          <a:lstStyle/>
          <a:p>
            <a:pPr marL="0" indent="0" algn="l">
              <a:lnSpc>
                <a:spcPts val="1200"/>
              </a:lnSpc>
              <a:buNone/>
            </a:pPr>
            <a:r>
              <a:rPr lang="en-US" sz="1150" dirty="0">
                <a:solidFill>
                  <a:srgbClr val="000000"/>
                </a:solidFill>
                <a:latin typeface="Gotham" pitchFamily="50" charset="0"/>
                <a:ea typeface="Montserrat" pitchFamily="34" charset="-122"/>
                <a:cs typeface="Gotham" pitchFamily="50" charset="0"/>
              </a:rPr>
              <a:t>The stark contrast between regions reveals significant opportunity for operational improvement, particularly in the Central region where losses are eroding overall profitability.</a:t>
            </a:r>
            <a:endParaRPr lang="en-US" sz="1150" dirty="0">
              <a:latin typeface="Gotham" pitchFamily="50" charset="0"/>
              <a:cs typeface="Gotham" pitchFamily="50" charset="0"/>
            </a:endParaRPr>
          </a:p>
        </p:txBody>
      </p:sp>
      <p:sp>
        <p:nvSpPr>
          <p:cNvPr id="35" name="Rectangle 34">
            <a:extLst>
              <a:ext uri="{FF2B5EF4-FFF2-40B4-BE49-F238E27FC236}">
                <a16:creationId xmlns:a16="http://schemas.microsoft.com/office/drawing/2014/main" id="{B51C8064-63A7-A573-A023-D195CBC55DBA}"/>
              </a:ext>
            </a:extLst>
          </p:cNvPr>
          <p:cNvSpPr/>
          <p:nvPr/>
        </p:nvSpPr>
        <p:spPr>
          <a:xfrm>
            <a:off x="8629650" y="136208"/>
            <a:ext cx="5852160" cy="7955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7" name="Picture 36">
            <a:extLst>
              <a:ext uri="{FF2B5EF4-FFF2-40B4-BE49-F238E27FC236}">
                <a16:creationId xmlns:a16="http://schemas.microsoft.com/office/drawing/2014/main" id="{02344638-5E73-D476-FA7E-C7D2E6F00C59}"/>
              </a:ext>
            </a:extLst>
          </p:cNvPr>
          <p:cNvPicPr>
            <a:picLocks noChangeAspect="1"/>
          </p:cNvPicPr>
          <p:nvPr/>
        </p:nvPicPr>
        <p:blipFill>
          <a:blip r:embed="rId12"/>
          <a:stretch>
            <a:fillRect/>
          </a:stretch>
        </p:blipFill>
        <p:spPr>
          <a:xfrm>
            <a:off x="8709660" y="193105"/>
            <a:ext cx="5692140" cy="3974083"/>
          </a:xfrm>
          <a:prstGeom prst="rect">
            <a:avLst/>
          </a:prstGeom>
        </p:spPr>
      </p:pic>
      <p:pic>
        <p:nvPicPr>
          <p:cNvPr id="39" name="Picture 38">
            <a:extLst>
              <a:ext uri="{FF2B5EF4-FFF2-40B4-BE49-F238E27FC236}">
                <a16:creationId xmlns:a16="http://schemas.microsoft.com/office/drawing/2014/main" id="{1411820E-45EA-DB4C-AAC8-2E249D1D8F14}"/>
              </a:ext>
            </a:extLst>
          </p:cNvPr>
          <p:cNvPicPr>
            <a:picLocks noChangeAspect="1"/>
          </p:cNvPicPr>
          <p:nvPr/>
        </p:nvPicPr>
        <p:blipFill>
          <a:blip r:embed="rId13"/>
          <a:stretch>
            <a:fillRect/>
          </a:stretch>
        </p:blipFill>
        <p:spPr>
          <a:xfrm>
            <a:off x="8709660" y="4314587"/>
            <a:ext cx="5692139" cy="37769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760720" cy="8229600"/>
          </a:xfrm>
          <a:prstGeom prst="rect">
            <a:avLst/>
          </a:prstGeom>
          <a:solidFill>
            <a:srgbClr val="DFDFE0"/>
          </a:solidFill>
          <a:ln/>
        </p:spPr>
      </p:sp>
      <p:pic>
        <p:nvPicPr>
          <p:cNvPr id="3"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4" name="Text 1"/>
          <p:cNvSpPr/>
          <p:nvPr/>
        </p:nvSpPr>
        <p:spPr>
          <a:xfrm>
            <a:off x="6280190" y="697468"/>
            <a:ext cx="7147798" cy="720566"/>
          </a:xfrm>
          <a:prstGeom prst="rect">
            <a:avLst/>
          </a:prstGeom>
          <a:noFill/>
          <a:ln/>
        </p:spPr>
        <p:txBody>
          <a:bodyPr wrap="none" lIns="0" tIns="0" rIns="0" bIns="0" rtlCol="0" anchor="t"/>
          <a:lstStyle/>
          <a:p>
            <a:pPr marL="0" indent="0" algn="l">
              <a:lnSpc>
                <a:spcPts val="5650"/>
              </a:lnSpc>
              <a:buNone/>
            </a:pPr>
            <a:r>
              <a:rPr lang="en-US" sz="4350" dirty="0">
                <a:solidFill>
                  <a:srgbClr val="532418"/>
                </a:solidFill>
                <a:latin typeface="Gotham Black" pitchFamily="50" charset="0"/>
                <a:ea typeface="Marcellus" pitchFamily="34" charset="-122"/>
                <a:cs typeface="Gotham Black" pitchFamily="50" charset="0"/>
              </a:rPr>
              <a:t>Product &amp; Category Analysis</a:t>
            </a:r>
            <a:endParaRPr lang="en-US" sz="4350" dirty="0">
              <a:latin typeface="Gotham Black" pitchFamily="50" charset="0"/>
              <a:cs typeface="Gotham Black" pitchFamily="50" charset="0"/>
            </a:endParaRPr>
          </a:p>
        </p:txBody>
      </p:sp>
      <p:sp>
        <p:nvSpPr>
          <p:cNvPr id="5" name="Text 2"/>
          <p:cNvSpPr/>
          <p:nvPr/>
        </p:nvSpPr>
        <p:spPr>
          <a:xfrm>
            <a:off x="6280190" y="1483519"/>
            <a:ext cx="4315063" cy="360283"/>
          </a:xfrm>
          <a:prstGeom prst="rect">
            <a:avLst/>
          </a:prstGeom>
          <a:noFill/>
          <a:ln/>
        </p:spPr>
        <p:txBody>
          <a:bodyPr wrap="none" lIns="0" tIns="0" rIns="0" bIns="0" rtlCol="0" anchor="t"/>
          <a:lstStyle/>
          <a:p>
            <a:pPr marL="0" indent="0" algn="l">
              <a:lnSpc>
                <a:spcPts val="2800"/>
              </a:lnSpc>
              <a:buNone/>
            </a:pPr>
            <a:r>
              <a:rPr lang="en-US" sz="2150" dirty="0">
                <a:solidFill>
                  <a:srgbClr val="532418"/>
                </a:solidFill>
                <a:latin typeface="Gotham" pitchFamily="50" charset="0"/>
                <a:ea typeface="Marcellus" pitchFamily="34" charset="-122"/>
                <a:cs typeface="Gotham" pitchFamily="50" charset="0"/>
              </a:rPr>
              <a:t>Category Performance Breakdown</a:t>
            </a:r>
            <a:endParaRPr lang="en-US" sz="2150" dirty="0">
              <a:latin typeface="Gotham" pitchFamily="50" charset="0"/>
              <a:cs typeface="Gotham" pitchFamily="50" charset="0"/>
            </a:endParaRPr>
          </a:p>
        </p:txBody>
      </p:sp>
      <p:sp>
        <p:nvSpPr>
          <p:cNvPr id="6" name="Shape 3"/>
          <p:cNvSpPr/>
          <p:nvPr/>
        </p:nvSpPr>
        <p:spPr>
          <a:xfrm>
            <a:off x="6280190" y="2089547"/>
            <a:ext cx="3696295" cy="2755225"/>
          </a:xfrm>
          <a:prstGeom prst="roundRect">
            <a:avLst>
              <a:gd name="adj" fmla="val 2939"/>
            </a:avLst>
          </a:prstGeom>
          <a:solidFill>
            <a:srgbClr val="FFFFF4"/>
          </a:solidFill>
          <a:ln w="22860">
            <a:solidFill>
              <a:srgbClr val="FFE0CC"/>
            </a:solidFill>
            <a:prstDash val="solid"/>
          </a:ln>
        </p:spPr>
      </p:sp>
      <p:sp>
        <p:nvSpPr>
          <p:cNvPr id="7" name="Shape 4"/>
          <p:cNvSpPr/>
          <p:nvPr/>
        </p:nvSpPr>
        <p:spPr>
          <a:xfrm>
            <a:off x="6495812" y="2305169"/>
            <a:ext cx="578406" cy="578406"/>
          </a:xfrm>
          <a:prstGeom prst="roundRect">
            <a:avLst>
              <a:gd name="adj" fmla="val 15807384"/>
            </a:avLst>
          </a:prstGeom>
          <a:solidFill>
            <a:srgbClr val="FF954F"/>
          </a:solidFill>
          <a:ln/>
        </p:spPr>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54879" y="2464118"/>
            <a:ext cx="260271" cy="260271"/>
          </a:xfrm>
          <a:prstGeom prst="rect">
            <a:avLst/>
          </a:prstGeom>
        </p:spPr>
      </p:pic>
      <p:sp>
        <p:nvSpPr>
          <p:cNvPr id="9" name="Text 5"/>
          <p:cNvSpPr/>
          <p:nvPr/>
        </p:nvSpPr>
        <p:spPr>
          <a:xfrm>
            <a:off x="6495812" y="3047405"/>
            <a:ext cx="2771537" cy="360283"/>
          </a:xfrm>
          <a:prstGeom prst="rect">
            <a:avLst/>
          </a:prstGeom>
          <a:noFill/>
          <a:ln/>
        </p:spPr>
        <p:txBody>
          <a:bodyPr wrap="none" lIns="0" tIns="0" rIns="0" bIns="0" rtlCol="0" anchor="t"/>
          <a:lstStyle/>
          <a:p>
            <a:pPr marL="0" indent="0" algn="l">
              <a:lnSpc>
                <a:spcPts val="2800"/>
              </a:lnSpc>
              <a:buNone/>
            </a:pPr>
            <a:r>
              <a:rPr lang="en-US" sz="2150" dirty="0">
                <a:solidFill>
                  <a:srgbClr val="67534F"/>
                </a:solidFill>
                <a:latin typeface="Gotham" pitchFamily="50" charset="0"/>
                <a:ea typeface="Marcellus" pitchFamily="34" charset="-122"/>
                <a:cs typeface="Gotham" pitchFamily="50" charset="0"/>
              </a:rPr>
              <a:t>Technology</a:t>
            </a:r>
            <a:endParaRPr lang="en-US" sz="2150" dirty="0">
              <a:latin typeface="Gotham" pitchFamily="50" charset="0"/>
              <a:cs typeface="Gotham" pitchFamily="50" charset="0"/>
            </a:endParaRPr>
          </a:p>
        </p:txBody>
      </p:sp>
      <p:sp>
        <p:nvSpPr>
          <p:cNvPr id="10" name="Text 6"/>
          <p:cNvSpPr/>
          <p:nvPr/>
        </p:nvSpPr>
        <p:spPr>
          <a:xfrm>
            <a:off x="6495812" y="3505914"/>
            <a:ext cx="3265051" cy="231696"/>
          </a:xfrm>
          <a:prstGeom prst="rect">
            <a:avLst/>
          </a:prstGeom>
          <a:noFill/>
          <a:ln/>
        </p:spPr>
        <p:txBody>
          <a:bodyPr wrap="none" lIns="0" tIns="0" rIns="0" bIns="0" rtlCol="0" anchor="t"/>
          <a:lstStyle/>
          <a:p>
            <a:pPr marL="0" indent="0" algn="l">
              <a:lnSpc>
                <a:spcPts val="1800"/>
              </a:lnSpc>
              <a:buNone/>
            </a:pPr>
            <a:r>
              <a:rPr lang="en-US" sz="1500" b="1" dirty="0">
                <a:solidFill>
                  <a:srgbClr val="67534F"/>
                </a:solidFill>
                <a:latin typeface="Gotham" pitchFamily="50" charset="0"/>
                <a:ea typeface="Montserrat" pitchFamily="34" charset="-122"/>
                <a:cs typeface="Gotham" pitchFamily="50" charset="0"/>
              </a:rPr>
              <a:t>Revenue:</a:t>
            </a:r>
            <a:r>
              <a:rPr lang="en-US" sz="1500" dirty="0">
                <a:solidFill>
                  <a:srgbClr val="67534F"/>
                </a:solidFill>
                <a:latin typeface="Gotham" pitchFamily="50" charset="0"/>
                <a:ea typeface="Montserrat" pitchFamily="34" charset="-122"/>
                <a:cs typeface="Gotham" pitchFamily="50" charset="0"/>
              </a:rPr>
              <a:t> $3,491,750</a:t>
            </a:r>
            <a:endParaRPr lang="en-US" sz="1500" dirty="0">
              <a:latin typeface="Gotham" pitchFamily="50" charset="0"/>
              <a:cs typeface="Gotham" pitchFamily="50" charset="0"/>
            </a:endParaRPr>
          </a:p>
        </p:txBody>
      </p:sp>
      <p:sp>
        <p:nvSpPr>
          <p:cNvPr id="11" name="Text 7"/>
          <p:cNvSpPr/>
          <p:nvPr/>
        </p:nvSpPr>
        <p:spPr>
          <a:xfrm>
            <a:off x="6495812" y="3835837"/>
            <a:ext cx="3265051" cy="231696"/>
          </a:xfrm>
          <a:prstGeom prst="rect">
            <a:avLst/>
          </a:prstGeom>
          <a:noFill/>
          <a:ln/>
        </p:spPr>
        <p:txBody>
          <a:bodyPr wrap="none" lIns="0" tIns="0" rIns="0" bIns="0" rtlCol="0" anchor="t"/>
          <a:lstStyle/>
          <a:p>
            <a:pPr marL="0" indent="0" algn="l">
              <a:lnSpc>
                <a:spcPts val="1800"/>
              </a:lnSpc>
              <a:buNone/>
            </a:pPr>
            <a:r>
              <a:rPr lang="en-US" sz="1500" b="1" dirty="0">
                <a:solidFill>
                  <a:srgbClr val="1B1B27"/>
                </a:solidFill>
                <a:latin typeface="Gotham" pitchFamily="50" charset="0"/>
                <a:ea typeface="Montserrat" pitchFamily="34" charset="-122"/>
                <a:cs typeface="Gotham" pitchFamily="50" charset="0"/>
              </a:rPr>
              <a:t>Profit Margin: 4.16%</a:t>
            </a:r>
            <a:endParaRPr lang="en-US" sz="1500" dirty="0">
              <a:latin typeface="Gotham" pitchFamily="50" charset="0"/>
              <a:cs typeface="Gotham" pitchFamily="50" charset="0"/>
            </a:endParaRPr>
          </a:p>
        </p:txBody>
      </p:sp>
      <p:sp>
        <p:nvSpPr>
          <p:cNvPr id="12" name="Text 8"/>
          <p:cNvSpPr/>
          <p:nvPr/>
        </p:nvSpPr>
        <p:spPr>
          <a:xfrm>
            <a:off x="6495812" y="4165759"/>
            <a:ext cx="3265051" cy="463391"/>
          </a:xfrm>
          <a:prstGeom prst="rect">
            <a:avLst/>
          </a:prstGeom>
          <a:noFill/>
          <a:ln/>
        </p:spPr>
        <p:txBody>
          <a:bodyPr wrap="square" lIns="0" tIns="0" rIns="0" bIns="0" rtlCol="0" anchor="t"/>
          <a:lstStyle/>
          <a:p>
            <a:pPr marL="0" indent="0" algn="l">
              <a:lnSpc>
                <a:spcPts val="1800"/>
              </a:lnSpc>
              <a:buNone/>
            </a:pPr>
            <a:r>
              <a:rPr lang="en-US" sz="1500" dirty="0">
                <a:solidFill>
                  <a:srgbClr val="67534F"/>
                </a:solidFill>
                <a:latin typeface="Gotham" pitchFamily="50" charset="0"/>
                <a:ea typeface="Montserrat" pitchFamily="34" charset="-122"/>
                <a:cs typeface="Gotham" pitchFamily="50" charset="0"/>
              </a:rPr>
              <a:t>Highest revenue generator with strongest profitability</a:t>
            </a:r>
            <a:endParaRPr lang="en-US" sz="1500" dirty="0">
              <a:latin typeface="Gotham" pitchFamily="50" charset="0"/>
              <a:cs typeface="Gotham" pitchFamily="50" charset="0"/>
            </a:endParaRPr>
          </a:p>
        </p:txBody>
      </p:sp>
      <p:sp>
        <p:nvSpPr>
          <p:cNvPr id="13" name="Shape 9"/>
          <p:cNvSpPr/>
          <p:nvPr/>
        </p:nvSpPr>
        <p:spPr>
          <a:xfrm>
            <a:off x="10140315" y="2089547"/>
            <a:ext cx="3696295" cy="2755225"/>
          </a:xfrm>
          <a:prstGeom prst="roundRect">
            <a:avLst>
              <a:gd name="adj" fmla="val 2939"/>
            </a:avLst>
          </a:prstGeom>
          <a:solidFill>
            <a:srgbClr val="FFFFF4"/>
          </a:solidFill>
          <a:ln w="22860">
            <a:solidFill>
              <a:srgbClr val="FFE0CC"/>
            </a:solidFill>
            <a:prstDash val="solid"/>
          </a:ln>
        </p:spPr>
      </p:sp>
      <p:sp>
        <p:nvSpPr>
          <p:cNvPr id="14" name="Shape 10"/>
          <p:cNvSpPr/>
          <p:nvPr/>
        </p:nvSpPr>
        <p:spPr>
          <a:xfrm>
            <a:off x="10355937" y="2305169"/>
            <a:ext cx="578406" cy="578406"/>
          </a:xfrm>
          <a:prstGeom prst="roundRect">
            <a:avLst>
              <a:gd name="adj" fmla="val 15807384"/>
            </a:avLst>
          </a:prstGeom>
          <a:solidFill>
            <a:srgbClr val="FF954F"/>
          </a:solidFill>
          <a:ln/>
        </p:spPr>
      </p:sp>
      <p:pic>
        <p:nvPicPr>
          <p:cNvPr id="15"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15005" y="2464118"/>
            <a:ext cx="260271" cy="260271"/>
          </a:xfrm>
          <a:prstGeom prst="rect">
            <a:avLst/>
          </a:prstGeom>
        </p:spPr>
      </p:pic>
      <p:sp>
        <p:nvSpPr>
          <p:cNvPr id="16" name="Text 11"/>
          <p:cNvSpPr/>
          <p:nvPr/>
        </p:nvSpPr>
        <p:spPr>
          <a:xfrm>
            <a:off x="10355937" y="3047405"/>
            <a:ext cx="2771537" cy="360283"/>
          </a:xfrm>
          <a:prstGeom prst="rect">
            <a:avLst/>
          </a:prstGeom>
          <a:noFill/>
          <a:ln/>
        </p:spPr>
        <p:txBody>
          <a:bodyPr wrap="none" lIns="0" tIns="0" rIns="0" bIns="0" rtlCol="0" anchor="t"/>
          <a:lstStyle/>
          <a:p>
            <a:pPr marL="0" indent="0" algn="l">
              <a:lnSpc>
                <a:spcPts val="2800"/>
              </a:lnSpc>
              <a:buNone/>
            </a:pPr>
            <a:r>
              <a:rPr lang="en-US" sz="2150" dirty="0">
                <a:solidFill>
                  <a:srgbClr val="67534F"/>
                </a:solidFill>
                <a:latin typeface="Gotham" pitchFamily="50" charset="0"/>
                <a:ea typeface="Marcellus" pitchFamily="34" charset="-122"/>
                <a:cs typeface="Gotham" pitchFamily="50" charset="0"/>
              </a:rPr>
              <a:t>Office Supplies</a:t>
            </a:r>
            <a:endParaRPr lang="en-US" sz="2150" dirty="0">
              <a:latin typeface="Gotham" pitchFamily="50" charset="0"/>
              <a:cs typeface="Gotham" pitchFamily="50" charset="0"/>
            </a:endParaRPr>
          </a:p>
        </p:txBody>
      </p:sp>
      <p:sp>
        <p:nvSpPr>
          <p:cNvPr id="17" name="Text 12"/>
          <p:cNvSpPr/>
          <p:nvPr/>
        </p:nvSpPr>
        <p:spPr>
          <a:xfrm>
            <a:off x="10355937" y="3505914"/>
            <a:ext cx="3265051" cy="231696"/>
          </a:xfrm>
          <a:prstGeom prst="rect">
            <a:avLst/>
          </a:prstGeom>
          <a:noFill/>
          <a:ln/>
        </p:spPr>
        <p:txBody>
          <a:bodyPr wrap="none" lIns="0" tIns="0" rIns="0" bIns="0" rtlCol="0" anchor="t"/>
          <a:lstStyle/>
          <a:p>
            <a:pPr marL="0" indent="0" algn="l">
              <a:lnSpc>
                <a:spcPts val="1800"/>
              </a:lnSpc>
              <a:buNone/>
            </a:pPr>
            <a:r>
              <a:rPr lang="en-US" sz="1500" b="1" dirty="0">
                <a:solidFill>
                  <a:srgbClr val="67534F"/>
                </a:solidFill>
                <a:latin typeface="Gotham" pitchFamily="50" charset="0"/>
                <a:ea typeface="Montserrat" pitchFamily="34" charset="-122"/>
                <a:cs typeface="Gotham" pitchFamily="50" charset="0"/>
              </a:rPr>
              <a:t>Revenue:</a:t>
            </a:r>
            <a:r>
              <a:rPr lang="en-US" sz="1500" dirty="0">
                <a:solidFill>
                  <a:srgbClr val="67534F"/>
                </a:solidFill>
                <a:latin typeface="Gotham" pitchFamily="50" charset="0"/>
                <a:ea typeface="Montserrat" pitchFamily="34" charset="-122"/>
                <a:cs typeface="Gotham" pitchFamily="50" charset="0"/>
              </a:rPr>
              <a:t> Strong contributor</a:t>
            </a:r>
            <a:endParaRPr lang="en-US" sz="1500" dirty="0">
              <a:latin typeface="Gotham" pitchFamily="50" charset="0"/>
              <a:cs typeface="Gotham" pitchFamily="50" charset="0"/>
            </a:endParaRPr>
          </a:p>
        </p:txBody>
      </p:sp>
      <p:sp>
        <p:nvSpPr>
          <p:cNvPr id="18" name="Text 13"/>
          <p:cNvSpPr/>
          <p:nvPr/>
        </p:nvSpPr>
        <p:spPr>
          <a:xfrm>
            <a:off x="10355937" y="3835837"/>
            <a:ext cx="3265051" cy="231696"/>
          </a:xfrm>
          <a:prstGeom prst="rect">
            <a:avLst/>
          </a:prstGeom>
          <a:noFill/>
          <a:ln/>
        </p:spPr>
        <p:txBody>
          <a:bodyPr wrap="none" lIns="0" tIns="0" rIns="0" bIns="0" rtlCol="0" anchor="t"/>
          <a:lstStyle/>
          <a:p>
            <a:pPr marL="0" indent="0" algn="l">
              <a:lnSpc>
                <a:spcPts val="1800"/>
              </a:lnSpc>
              <a:buNone/>
            </a:pPr>
            <a:r>
              <a:rPr lang="en-US" sz="1500" b="1" dirty="0">
                <a:solidFill>
                  <a:srgbClr val="1B1B27"/>
                </a:solidFill>
                <a:latin typeface="Gotham" pitchFamily="50" charset="0"/>
                <a:ea typeface="Montserrat" pitchFamily="34" charset="-122"/>
                <a:cs typeface="Gotham" pitchFamily="50" charset="0"/>
              </a:rPr>
              <a:t>Profit Margin: 3.86%</a:t>
            </a:r>
            <a:endParaRPr lang="en-US" sz="1500" dirty="0">
              <a:latin typeface="Gotham" pitchFamily="50" charset="0"/>
              <a:cs typeface="Gotham" pitchFamily="50" charset="0"/>
            </a:endParaRPr>
          </a:p>
        </p:txBody>
      </p:sp>
      <p:sp>
        <p:nvSpPr>
          <p:cNvPr id="19" name="Text 14"/>
          <p:cNvSpPr/>
          <p:nvPr/>
        </p:nvSpPr>
        <p:spPr>
          <a:xfrm>
            <a:off x="10355937" y="4165759"/>
            <a:ext cx="3265051" cy="463391"/>
          </a:xfrm>
          <a:prstGeom prst="rect">
            <a:avLst/>
          </a:prstGeom>
          <a:noFill/>
          <a:ln/>
        </p:spPr>
        <p:txBody>
          <a:bodyPr wrap="square" lIns="0" tIns="0" rIns="0" bIns="0" rtlCol="0" anchor="t"/>
          <a:lstStyle/>
          <a:p>
            <a:pPr marL="0" indent="0" algn="l">
              <a:lnSpc>
                <a:spcPts val="1800"/>
              </a:lnSpc>
              <a:buNone/>
            </a:pPr>
            <a:r>
              <a:rPr lang="en-US" sz="1500" dirty="0">
                <a:solidFill>
                  <a:srgbClr val="67534F"/>
                </a:solidFill>
                <a:latin typeface="Gotham" pitchFamily="50" charset="0"/>
                <a:ea typeface="Montserrat" pitchFamily="34" charset="-122"/>
                <a:cs typeface="Gotham" pitchFamily="50" charset="0"/>
              </a:rPr>
              <a:t>Healthy margins with consistent performance</a:t>
            </a:r>
            <a:endParaRPr lang="en-US" sz="1500" dirty="0">
              <a:latin typeface="Gotham" pitchFamily="50" charset="0"/>
              <a:cs typeface="Gotham" pitchFamily="50" charset="0"/>
            </a:endParaRPr>
          </a:p>
        </p:txBody>
      </p:sp>
      <p:sp>
        <p:nvSpPr>
          <p:cNvPr id="20" name="Shape 15"/>
          <p:cNvSpPr/>
          <p:nvPr/>
        </p:nvSpPr>
        <p:spPr>
          <a:xfrm>
            <a:off x="6280190" y="5008602"/>
            <a:ext cx="7556421" cy="2523530"/>
          </a:xfrm>
          <a:prstGeom prst="roundRect">
            <a:avLst>
              <a:gd name="adj" fmla="val 3209"/>
            </a:avLst>
          </a:prstGeom>
          <a:solidFill>
            <a:srgbClr val="FFFFF4"/>
          </a:solidFill>
          <a:ln w="22860">
            <a:solidFill>
              <a:srgbClr val="FFE0CC"/>
            </a:solidFill>
            <a:prstDash val="solid"/>
          </a:ln>
        </p:spPr>
      </p:sp>
      <p:sp>
        <p:nvSpPr>
          <p:cNvPr id="21" name="Shape 16"/>
          <p:cNvSpPr/>
          <p:nvPr/>
        </p:nvSpPr>
        <p:spPr>
          <a:xfrm>
            <a:off x="6495812" y="5224224"/>
            <a:ext cx="578406" cy="578406"/>
          </a:xfrm>
          <a:prstGeom prst="roundRect">
            <a:avLst>
              <a:gd name="adj" fmla="val 15807384"/>
            </a:avLst>
          </a:prstGeom>
          <a:solidFill>
            <a:srgbClr val="FF954F"/>
          </a:solidFill>
          <a:ln/>
        </p:spPr>
      </p:sp>
      <p:pic>
        <p:nvPicPr>
          <p:cNvPr id="2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54879" y="5383173"/>
            <a:ext cx="260271" cy="260271"/>
          </a:xfrm>
          <a:prstGeom prst="rect">
            <a:avLst/>
          </a:prstGeom>
        </p:spPr>
      </p:pic>
      <p:sp>
        <p:nvSpPr>
          <p:cNvPr id="23" name="Text 17"/>
          <p:cNvSpPr/>
          <p:nvPr/>
        </p:nvSpPr>
        <p:spPr>
          <a:xfrm>
            <a:off x="6495812" y="5966460"/>
            <a:ext cx="2771537" cy="360283"/>
          </a:xfrm>
          <a:prstGeom prst="rect">
            <a:avLst/>
          </a:prstGeom>
          <a:noFill/>
          <a:ln/>
        </p:spPr>
        <p:txBody>
          <a:bodyPr wrap="none" lIns="0" tIns="0" rIns="0" bIns="0" rtlCol="0" anchor="t"/>
          <a:lstStyle/>
          <a:p>
            <a:pPr marL="0" indent="0" algn="l">
              <a:lnSpc>
                <a:spcPts val="2800"/>
              </a:lnSpc>
              <a:buNone/>
            </a:pPr>
            <a:r>
              <a:rPr lang="en-US" sz="2150" dirty="0">
                <a:solidFill>
                  <a:srgbClr val="67534F"/>
                </a:solidFill>
                <a:latin typeface="Gotham" pitchFamily="50" charset="0"/>
                <a:ea typeface="Marcellus" pitchFamily="34" charset="-122"/>
                <a:cs typeface="Gotham" pitchFamily="50" charset="0"/>
              </a:rPr>
              <a:t>Furniture</a:t>
            </a:r>
            <a:endParaRPr lang="en-US" sz="2150" dirty="0">
              <a:latin typeface="Gotham" pitchFamily="50" charset="0"/>
              <a:cs typeface="Gotham" pitchFamily="50" charset="0"/>
            </a:endParaRPr>
          </a:p>
        </p:txBody>
      </p:sp>
      <p:sp>
        <p:nvSpPr>
          <p:cNvPr id="24" name="Text 18"/>
          <p:cNvSpPr/>
          <p:nvPr/>
        </p:nvSpPr>
        <p:spPr>
          <a:xfrm>
            <a:off x="6495812" y="6424970"/>
            <a:ext cx="7125176" cy="231696"/>
          </a:xfrm>
          <a:prstGeom prst="rect">
            <a:avLst/>
          </a:prstGeom>
          <a:noFill/>
          <a:ln/>
        </p:spPr>
        <p:txBody>
          <a:bodyPr wrap="none" lIns="0" tIns="0" rIns="0" bIns="0" rtlCol="0" anchor="t"/>
          <a:lstStyle/>
          <a:p>
            <a:pPr marL="0" indent="0" algn="l">
              <a:lnSpc>
                <a:spcPts val="1800"/>
              </a:lnSpc>
              <a:buNone/>
            </a:pPr>
            <a:r>
              <a:rPr lang="en-US" sz="1500" b="1" dirty="0">
                <a:solidFill>
                  <a:srgbClr val="67534F"/>
                </a:solidFill>
                <a:latin typeface="Gotham" pitchFamily="50" charset="0"/>
                <a:ea typeface="Montserrat" pitchFamily="34" charset="-122"/>
                <a:cs typeface="Gotham" pitchFamily="50" charset="0"/>
              </a:rPr>
              <a:t>Revenue:</a:t>
            </a:r>
            <a:r>
              <a:rPr lang="en-US" sz="1500" dirty="0">
                <a:solidFill>
                  <a:srgbClr val="67534F"/>
                </a:solidFill>
                <a:latin typeface="Gotham" pitchFamily="50" charset="0"/>
                <a:ea typeface="Montserrat" pitchFamily="34" charset="-122"/>
                <a:cs typeface="Gotham" pitchFamily="50" charset="0"/>
              </a:rPr>
              <a:t> Significant volume</a:t>
            </a:r>
            <a:endParaRPr lang="en-US" sz="1500" dirty="0">
              <a:latin typeface="Gotham" pitchFamily="50" charset="0"/>
              <a:cs typeface="Gotham" pitchFamily="50" charset="0"/>
            </a:endParaRPr>
          </a:p>
        </p:txBody>
      </p:sp>
      <p:sp>
        <p:nvSpPr>
          <p:cNvPr id="25" name="Text 19"/>
          <p:cNvSpPr/>
          <p:nvPr/>
        </p:nvSpPr>
        <p:spPr>
          <a:xfrm>
            <a:off x="6495812" y="6754892"/>
            <a:ext cx="7125176" cy="231696"/>
          </a:xfrm>
          <a:prstGeom prst="rect">
            <a:avLst/>
          </a:prstGeom>
          <a:noFill/>
          <a:ln/>
        </p:spPr>
        <p:txBody>
          <a:bodyPr wrap="none" lIns="0" tIns="0" rIns="0" bIns="0" rtlCol="0" anchor="t"/>
          <a:lstStyle/>
          <a:p>
            <a:pPr marL="0" indent="0" algn="l">
              <a:lnSpc>
                <a:spcPts val="1800"/>
              </a:lnSpc>
              <a:buNone/>
            </a:pPr>
            <a:r>
              <a:rPr lang="en-US" sz="1500" b="1" dirty="0">
                <a:solidFill>
                  <a:srgbClr val="1B1B27"/>
                </a:solidFill>
                <a:latin typeface="Gotham" pitchFamily="50" charset="0"/>
                <a:ea typeface="Montserrat" pitchFamily="34" charset="-122"/>
                <a:cs typeface="Gotham" pitchFamily="50" charset="0"/>
              </a:rPr>
              <a:t>Profit Margin: 0.57%</a:t>
            </a:r>
            <a:endParaRPr lang="en-US" sz="1500" dirty="0">
              <a:latin typeface="Gotham" pitchFamily="50" charset="0"/>
              <a:cs typeface="Gotham" pitchFamily="50" charset="0"/>
            </a:endParaRPr>
          </a:p>
        </p:txBody>
      </p:sp>
      <p:sp>
        <p:nvSpPr>
          <p:cNvPr id="26" name="Text 20"/>
          <p:cNvSpPr/>
          <p:nvPr/>
        </p:nvSpPr>
        <p:spPr>
          <a:xfrm>
            <a:off x="6495812" y="7084814"/>
            <a:ext cx="7125176" cy="231696"/>
          </a:xfrm>
          <a:prstGeom prst="rect">
            <a:avLst/>
          </a:prstGeom>
          <a:noFill/>
          <a:ln/>
        </p:spPr>
        <p:txBody>
          <a:bodyPr wrap="none" lIns="0" tIns="0" rIns="0" bIns="0" rtlCol="0" anchor="t"/>
          <a:lstStyle/>
          <a:p>
            <a:pPr marL="0" indent="0" algn="l">
              <a:lnSpc>
                <a:spcPts val="1800"/>
              </a:lnSpc>
              <a:buNone/>
            </a:pPr>
            <a:r>
              <a:rPr lang="en-US" sz="1500" dirty="0">
                <a:solidFill>
                  <a:srgbClr val="67534F"/>
                </a:solidFill>
                <a:latin typeface="Gotham" pitchFamily="50" charset="0"/>
                <a:ea typeface="Montserrat" pitchFamily="34" charset="-122"/>
                <a:cs typeface="Gotham" pitchFamily="50" charset="0"/>
              </a:rPr>
              <a:t>Lowest margin requiring strategic review</a:t>
            </a:r>
            <a:endParaRPr lang="en-US" sz="1500" dirty="0">
              <a:latin typeface="Gotham" pitchFamily="50" charset="0"/>
              <a:cs typeface="Gotham" pitchFamily="50" charset="0"/>
            </a:endParaRPr>
          </a:p>
        </p:txBody>
      </p:sp>
      <p:pic>
        <p:nvPicPr>
          <p:cNvPr id="28" name="Picture 27">
            <a:extLst>
              <a:ext uri="{FF2B5EF4-FFF2-40B4-BE49-F238E27FC236}">
                <a16:creationId xmlns:a16="http://schemas.microsoft.com/office/drawing/2014/main" id="{6D7E38F3-430B-CB88-292C-AA488B1A71A8}"/>
              </a:ext>
            </a:extLst>
          </p:cNvPr>
          <p:cNvPicPr>
            <a:picLocks noChangeAspect="1"/>
          </p:cNvPicPr>
          <p:nvPr/>
        </p:nvPicPr>
        <p:blipFill>
          <a:blip r:embed="rId10"/>
          <a:stretch>
            <a:fillRect/>
          </a:stretch>
        </p:blipFill>
        <p:spPr>
          <a:xfrm>
            <a:off x="0" y="0"/>
            <a:ext cx="5760720" cy="4252424"/>
          </a:xfrm>
          <a:prstGeom prst="rect">
            <a:avLst/>
          </a:prstGeom>
        </p:spPr>
      </p:pic>
      <p:pic>
        <p:nvPicPr>
          <p:cNvPr id="30" name="Picture 29">
            <a:extLst>
              <a:ext uri="{FF2B5EF4-FFF2-40B4-BE49-F238E27FC236}">
                <a16:creationId xmlns:a16="http://schemas.microsoft.com/office/drawing/2014/main" id="{1967DD1A-E743-8296-78EA-C516583DF2DE}"/>
              </a:ext>
            </a:extLst>
          </p:cNvPr>
          <p:cNvPicPr>
            <a:picLocks noChangeAspect="1"/>
          </p:cNvPicPr>
          <p:nvPr/>
        </p:nvPicPr>
        <p:blipFill>
          <a:blip r:embed="rId11"/>
          <a:stretch>
            <a:fillRect/>
          </a:stretch>
        </p:blipFill>
        <p:spPr>
          <a:xfrm>
            <a:off x="-2937" y="4252424"/>
            <a:ext cx="5763658" cy="3977176"/>
          </a:xfrm>
          <a:prstGeom prst="rect">
            <a:avLst/>
          </a:prstGeom>
        </p:spPr>
      </p:pic>
      <p:sp>
        <p:nvSpPr>
          <p:cNvPr id="31" name="Rectangle 30">
            <a:extLst>
              <a:ext uri="{FF2B5EF4-FFF2-40B4-BE49-F238E27FC236}">
                <a16:creationId xmlns:a16="http://schemas.microsoft.com/office/drawing/2014/main" id="{D7951552-0AE1-52D6-C169-17D19AD68C95}"/>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67358"/>
            <a:ext cx="6608326" cy="678180"/>
          </a:xfrm>
          <a:prstGeom prst="rect">
            <a:avLst/>
          </a:prstGeom>
          <a:noFill/>
          <a:ln/>
        </p:spPr>
        <p:txBody>
          <a:bodyPr wrap="none" lIns="0" tIns="0" rIns="0" bIns="0" rtlCol="0" anchor="t"/>
          <a:lstStyle/>
          <a:p>
            <a:pPr marL="0" indent="0" algn="l">
              <a:lnSpc>
                <a:spcPts val="5300"/>
              </a:lnSpc>
              <a:buNone/>
            </a:pPr>
            <a:r>
              <a:rPr lang="en-US" sz="4100" dirty="0">
                <a:solidFill>
                  <a:srgbClr val="532418"/>
                </a:solidFill>
                <a:latin typeface="Gotham Black" pitchFamily="50" charset="0"/>
                <a:ea typeface="Marcellus" pitchFamily="34" charset="-122"/>
                <a:cs typeface="Gotham Black" pitchFamily="50" charset="0"/>
              </a:rPr>
              <a:t>Strategic Recommendations</a:t>
            </a:r>
            <a:endParaRPr lang="en-US" sz="4100" dirty="0">
              <a:latin typeface="Gotham Black" pitchFamily="50" charset="0"/>
              <a:cs typeface="Gotham Black" pitchFamily="50" charset="0"/>
            </a:endParaRPr>
          </a:p>
        </p:txBody>
      </p:sp>
      <p:pic>
        <p:nvPicPr>
          <p:cNvPr id="3" name="Image 0" descr="preencoded.png"/>
          <p:cNvPicPr>
            <a:picLocks noChangeAspect="1"/>
          </p:cNvPicPr>
          <p:nvPr/>
        </p:nvPicPr>
        <p:blipFill>
          <a:blip r:embed="rId3"/>
          <a:stretch>
            <a:fillRect/>
          </a:stretch>
        </p:blipFill>
        <p:spPr>
          <a:xfrm>
            <a:off x="793790" y="1735812"/>
            <a:ext cx="907256" cy="1213604"/>
          </a:xfrm>
          <a:prstGeom prst="rect">
            <a:avLst/>
          </a:prstGeom>
        </p:spPr>
      </p:pic>
      <p:sp>
        <p:nvSpPr>
          <p:cNvPr id="4" name="Text 1"/>
          <p:cNvSpPr/>
          <p:nvPr/>
        </p:nvSpPr>
        <p:spPr>
          <a:xfrm>
            <a:off x="1846183" y="1917263"/>
            <a:ext cx="3336250" cy="339090"/>
          </a:xfrm>
          <a:prstGeom prst="rect">
            <a:avLst/>
          </a:prstGeom>
          <a:noFill/>
          <a:ln/>
        </p:spPr>
        <p:txBody>
          <a:bodyPr wrap="none" lIns="0" tIns="0" rIns="0" bIns="0" rtlCol="0" anchor="t"/>
          <a:lstStyle/>
          <a:p>
            <a:pPr marL="0" indent="0" algn="l">
              <a:lnSpc>
                <a:spcPts val="2650"/>
              </a:lnSpc>
              <a:buNone/>
            </a:pPr>
            <a:r>
              <a:rPr lang="en-US" sz="2050" dirty="0">
                <a:solidFill>
                  <a:srgbClr val="67534F"/>
                </a:solidFill>
                <a:latin typeface="Gotham" pitchFamily="50" charset="0"/>
                <a:ea typeface="Marcellus" pitchFamily="34" charset="-122"/>
                <a:cs typeface="Gotham" pitchFamily="50" charset="0"/>
              </a:rPr>
              <a:t>Customer-Centric Strategies</a:t>
            </a:r>
            <a:endParaRPr lang="en-US" sz="2050" dirty="0">
              <a:latin typeface="Gotham" pitchFamily="50" charset="0"/>
              <a:cs typeface="Gotham" pitchFamily="50" charset="0"/>
            </a:endParaRPr>
          </a:p>
        </p:txBody>
      </p:sp>
      <p:sp>
        <p:nvSpPr>
          <p:cNvPr id="5" name="Text 2"/>
          <p:cNvSpPr/>
          <p:nvPr/>
        </p:nvSpPr>
        <p:spPr>
          <a:xfrm>
            <a:off x="1846183" y="2343388"/>
            <a:ext cx="11990427" cy="424577"/>
          </a:xfrm>
          <a:prstGeom prst="rect">
            <a:avLst/>
          </a:prstGeom>
          <a:noFill/>
          <a:ln/>
        </p:spPr>
        <p:txBody>
          <a:bodyPr wrap="square" lIns="0" tIns="0" rIns="0" bIns="0" rtlCol="0" anchor="t"/>
          <a:lstStyle/>
          <a:p>
            <a:pPr marL="0" indent="0" algn="l">
              <a:lnSpc>
                <a:spcPts val="1650"/>
              </a:lnSpc>
              <a:buNone/>
            </a:pPr>
            <a:r>
              <a:rPr lang="en-US" sz="1400" dirty="0">
                <a:solidFill>
                  <a:srgbClr val="67534F"/>
                </a:solidFill>
                <a:latin typeface="Gotham" pitchFamily="50" charset="0"/>
                <a:ea typeface="Montserrat" pitchFamily="34" charset="-122"/>
                <a:cs typeface="Gotham" pitchFamily="50" charset="0"/>
              </a:rPr>
              <a:t>Implement tiered loyalty programs for top customers, offering exclusive benefits, early sale access, and personalized recommendations to drive retention and lifetime value.</a:t>
            </a:r>
            <a:endParaRPr lang="en-US" sz="1400" dirty="0">
              <a:latin typeface="Gotham" pitchFamily="50" charset="0"/>
              <a:cs typeface="Gotham" pitchFamily="50" charset="0"/>
            </a:endParaRPr>
          </a:p>
        </p:txBody>
      </p:sp>
      <p:pic>
        <p:nvPicPr>
          <p:cNvPr id="6" name="Image 1" descr="preencoded.png"/>
          <p:cNvPicPr>
            <a:picLocks noChangeAspect="1"/>
          </p:cNvPicPr>
          <p:nvPr/>
        </p:nvPicPr>
        <p:blipFill>
          <a:blip r:embed="rId4"/>
          <a:stretch>
            <a:fillRect/>
          </a:stretch>
        </p:blipFill>
        <p:spPr>
          <a:xfrm>
            <a:off x="793790" y="2949416"/>
            <a:ext cx="907256" cy="1213604"/>
          </a:xfrm>
          <a:prstGeom prst="rect">
            <a:avLst/>
          </a:prstGeom>
        </p:spPr>
      </p:pic>
      <p:sp>
        <p:nvSpPr>
          <p:cNvPr id="7" name="Text 3"/>
          <p:cNvSpPr/>
          <p:nvPr/>
        </p:nvSpPr>
        <p:spPr>
          <a:xfrm>
            <a:off x="1846183" y="3130868"/>
            <a:ext cx="4120872" cy="339090"/>
          </a:xfrm>
          <a:prstGeom prst="rect">
            <a:avLst/>
          </a:prstGeom>
          <a:noFill/>
          <a:ln/>
        </p:spPr>
        <p:txBody>
          <a:bodyPr wrap="none" lIns="0" tIns="0" rIns="0" bIns="0" rtlCol="0" anchor="t"/>
          <a:lstStyle/>
          <a:p>
            <a:pPr marL="0" indent="0" algn="l">
              <a:lnSpc>
                <a:spcPts val="2650"/>
              </a:lnSpc>
              <a:buNone/>
            </a:pPr>
            <a:r>
              <a:rPr lang="en-US" sz="2050" dirty="0">
                <a:solidFill>
                  <a:srgbClr val="67534F"/>
                </a:solidFill>
                <a:latin typeface="Gotham" pitchFamily="50" charset="0"/>
                <a:ea typeface="Marcellus" pitchFamily="34" charset="-122"/>
                <a:cs typeface="Gotham" pitchFamily="50" charset="0"/>
              </a:rPr>
              <a:t>Business Performance Optimization</a:t>
            </a:r>
            <a:endParaRPr lang="en-US" sz="2050" dirty="0">
              <a:latin typeface="Gotham" pitchFamily="50" charset="0"/>
              <a:cs typeface="Gotham" pitchFamily="50" charset="0"/>
            </a:endParaRPr>
          </a:p>
        </p:txBody>
      </p:sp>
      <p:sp>
        <p:nvSpPr>
          <p:cNvPr id="8" name="Text 4"/>
          <p:cNvSpPr/>
          <p:nvPr/>
        </p:nvSpPr>
        <p:spPr>
          <a:xfrm>
            <a:off x="1846183" y="3556992"/>
            <a:ext cx="11990427" cy="424577"/>
          </a:xfrm>
          <a:prstGeom prst="rect">
            <a:avLst/>
          </a:prstGeom>
          <a:noFill/>
          <a:ln/>
        </p:spPr>
        <p:txBody>
          <a:bodyPr wrap="square" lIns="0" tIns="0" rIns="0" bIns="0" rtlCol="0" anchor="t"/>
          <a:lstStyle/>
          <a:p>
            <a:pPr marL="0" indent="0" algn="l">
              <a:lnSpc>
                <a:spcPts val="1650"/>
              </a:lnSpc>
              <a:buNone/>
            </a:pPr>
            <a:r>
              <a:rPr lang="en-US" sz="1400" dirty="0">
                <a:solidFill>
                  <a:srgbClr val="67534F"/>
                </a:solidFill>
                <a:latin typeface="Gotham" pitchFamily="50" charset="0"/>
                <a:ea typeface="Montserrat" pitchFamily="34" charset="-122"/>
                <a:cs typeface="Gotham" pitchFamily="50" charset="0"/>
              </a:rPr>
              <a:t>Analyze December 2016's exceptional performance to identify repeatable peak-season strategies. Address the 2.89% overall margin through pricing optimization, supplier negotiations, and cost reduction initiatives.</a:t>
            </a:r>
            <a:endParaRPr lang="en-US" sz="1400" dirty="0">
              <a:latin typeface="Gotham" pitchFamily="50" charset="0"/>
              <a:cs typeface="Gotham" pitchFamily="50" charset="0"/>
            </a:endParaRPr>
          </a:p>
        </p:txBody>
      </p:sp>
      <p:pic>
        <p:nvPicPr>
          <p:cNvPr id="9" name="Image 2" descr="preencoded.png"/>
          <p:cNvPicPr>
            <a:picLocks noChangeAspect="1"/>
          </p:cNvPicPr>
          <p:nvPr/>
        </p:nvPicPr>
        <p:blipFill>
          <a:blip r:embed="rId5"/>
          <a:stretch>
            <a:fillRect/>
          </a:stretch>
        </p:blipFill>
        <p:spPr>
          <a:xfrm>
            <a:off x="793790" y="4163020"/>
            <a:ext cx="907256" cy="1213604"/>
          </a:xfrm>
          <a:prstGeom prst="rect">
            <a:avLst/>
          </a:prstGeom>
        </p:spPr>
      </p:pic>
      <p:sp>
        <p:nvSpPr>
          <p:cNvPr id="10" name="Text 5"/>
          <p:cNvSpPr/>
          <p:nvPr/>
        </p:nvSpPr>
        <p:spPr>
          <a:xfrm>
            <a:off x="1846183" y="4344472"/>
            <a:ext cx="4267200" cy="339090"/>
          </a:xfrm>
          <a:prstGeom prst="rect">
            <a:avLst/>
          </a:prstGeom>
          <a:noFill/>
          <a:ln/>
        </p:spPr>
        <p:txBody>
          <a:bodyPr wrap="none" lIns="0" tIns="0" rIns="0" bIns="0" rtlCol="0" anchor="t"/>
          <a:lstStyle/>
          <a:p>
            <a:pPr marL="0" indent="0" algn="l">
              <a:lnSpc>
                <a:spcPts val="2650"/>
              </a:lnSpc>
              <a:buNone/>
            </a:pPr>
            <a:r>
              <a:rPr lang="en-US" sz="2050" dirty="0">
                <a:solidFill>
                  <a:srgbClr val="67534F"/>
                </a:solidFill>
                <a:latin typeface="Gotham" pitchFamily="50" charset="0"/>
                <a:ea typeface="Marcellus" pitchFamily="34" charset="-122"/>
                <a:cs typeface="Gotham" pitchFamily="50" charset="0"/>
              </a:rPr>
              <a:t>Regional Performance Enhancement</a:t>
            </a:r>
            <a:endParaRPr lang="en-US" sz="2050" dirty="0">
              <a:latin typeface="Gotham" pitchFamily="50" charset="0"/>
              <a:cs typeface="Gotham" pitchFamily="50" charset="0"/>
            </a:endParaRPr>
          </a:p>
        </p:txBody>
      </p:sp>
      <p:sp>
        <p:nvSpPr>
          <p:cNvPr id="11" name="Text 6"/>
          <p:cNvSpPr/>
          <p:nvPr/>
        </p:nvSpPr>
        <p:spPr>
          <a:xfrm>
            <a:off x="1846183" y="4770596"/>
            <a:ext cx="11990427" cy="424577"/>
          </a:xfrm>
          <a:prstGeom prst="rect">
            <a:avLst/>
          </a:prstGeom>
          <a:noFill/>
          <a:ln/>
        </p:spPr>
        <p:txBody>
          <a:bodyPr wrap="square" lIns="0" tIns="0" rIns="0" bIns="0" rtlCol="0" anchor="t"/>
          <a:lstStyle/>
          <a:p>
            <a:pPr marL="0" indent="0" algn="l">
              <a:lnSpc>
                <a:spcPts val="1650"/>
              </a:lnSpc>
              <a:buNone/>
            </a:pPr>
            <a:r>
              <a:rPr lang="en-US" sz="1400" dirty="0">
                <a:solidFill>
                  <a:srgbClr val="67534F"/>
                </a:solidFill>
                <a:latin typeface="Gotham" pitchFamily="50" charset="0"/>
                <a:ea typeface="Montserrat" pitchFamily="34" charset="-122"/>
                <a:cs typeface="Gotham" pitchFamily="50" charset="0"/>
              </a:rPr>
              <a:t>Urgently investigate Central region's negative margin through comprehensive review of discount strategies, shipping costs, product mix, and competitive dynamics. Implement immediate corrective measures.</a:t>
            </a:r>
            <a:endParaRPr lang="en-US" sz="1400" dirty="0">
              <a:latin typeface="Gotham" pitchFamily="50" charset="0"/>
              <a:cs typeface="Gotham" pitchFamily="50" charset="0"/>
            </a:endParaRPr>
          </a:p>
        </p:txBody>
      </p:sp>
      <p:pic>
        <p:nvPicPr>
          <p:cNvPr id="12" name="Image 3" descr="preencoded.png"/>
          <p:cNvPicPr>
            <a:picLocks noChangeAspect="1"/>
          </p:cNvPicPr>
          <p:nvPr/>
        </p:nvPicPr>
        <p:blipFill>
          <a:blip r:embed="rId6"/>
          <a:stretch>
            <a:fillRect/>
          </a:stretch>
        </p:blipFill>
        <p:spPr>
          <a:xfrm>
            <a:off x="793790" y="5376624"/>
            <a:ext cx="907256" cy="1213604"/>
          </a:xfrm>
          <a:prstGeom prst="rect">
            <a:avLst/>
          </a:prstGeom>
        </p:spPr>
      </p:pic>
      <p:sp>
        <p:nvSpPr>
          <p:cNvPr id="13" name="Text 7"/>
          <p:cNvSpPr/>
          <p:nvPr/>
        </p:nvSpPr>
        <p:spPr>
          <a:xfrm>
            <a:off x="1846183" y="5558076"/>
            <a:ext cx="4058722" cy="339090"/>
          </a:xfrm>
          <a:prstGeom prst="rect">
            <a:avLst/>
          </a:prstGeom>
          <a:noFill/>
          <a:ln/>
        </p:spPr>
        <p:txBody>
          <a:bodyPr wrap="none" lIns="0" tIns="0" rIns="0" bIns="0" rtlCol="0" anchor="t"/>
          <a:lstStyle/>
          <a:p>
            <a:pPr marL="0" indent="0" algn="l">
              <a:lnSpc>
                <a:spcPts val="2650"/>
              </a:lnSpc>
              <a:buNone/>
            </a:pPr>
            <a:r>
              <a:rPr lang="en-US" sz="2050" dirty="0">
                <a:solidFill>
                  <a:srgbClr val="67534F"/>
                </a:solidFill>
                <a:latin typeface="Gotham" pitchFamily="50" charset="0"/>
                <a:ea typeface="Marcellus" pitchFamily="34" charset="-122"/>
                <a:cs typeface="Gotham" pitchFamily="50" charset="0"/>
              </a:rPr>
              <a:t>Product &amp; Category Management</a:t>
            </a:r>
            <a:endParaRPr lang="en-US" sz="2050" dirty="0">
              <a:latin typeface="Gotham" pitchFamily="50" charset="0"/>
              <a:cs typeface="Gotham" pitchFamily="50" charset="0"/>
            </a:endParaRPr>
          </a:p>
        </p:txBody>
      </p:sp>
      <p:sp>
        <p:nvSpPr>
          <p:cNvPr id="14" name="Text 8"/>
          <p:cNvSpPr/>
          <p:nvPr/>
        </p:nvSpPr>
        <p:spPr>
          <a:xfrm>
            <a:off x="1846183" y="5984200"/>
            <a:ext cx="11990427" cy="424577"/>
          </a:xfrm>
          <a:prstGeom prst="rect">
            <a:avLst/>
          </a:prstGeom>
          <a:noFill/>
          <a:ln/>
        </p:spPr>
        <p:txBody>
          <a:bodyPr wrap="square" lIns="0" tIns="0" rIns="0" bIns="0" rtlCol="0" anchor="t"/>
          <a:lstStyle/>
          <a:p>
            <a:pPr marL="0" indent="0" algn="l">
              <a:lnSpc>
                <a:spcPts val="1650"/>
              </a:lnSpc>
              <a:buNone/>
            </a:pPr>
            <a:r>
              <a:rPr lang="en-US" sz="1400" dirty="0">
                <a:solidFill>
                  <a:srgbClr val="67534F"/>
                </a:solidFill>
                <a:latin typeface="Gotham" pitchFamily="50" charset="0"/>
                <a:ea typeface="Montserrat" pitchFamily="34" charset="-122"/>
                <a:cs typeface="Gotham" pitchFamily="50" charset="0"/>
              </a:rPr>
              <a:t>Double down on Technology and Office Supplies investments while conducting rigorous cost-benefit analysis for Furniture category. Consider selective SKU rationalization or pricing adjustments.</a:t>
            </a:r>
            <a:endParaRPr lang="en-US" sz="1400" dirty="0">
              <a:latin typeface="Gotham" pitchFamily="50" charset="0"/>
              <a:cs typeface="Gotham" pitchFamily="50" charset="0"/>
            </a:endParaRPr>
          </a:p>
        </p:txBody>
      </p:sp>
      <p:sp>
        <p:nvSpPr>
          <p:cNvPr id="15" name="Shape 9"/>
          <p:cNvSpPr/>
          <p:nvPr/>
        </p:nvSpPr>
        <p:spPr>
          <a:xfrm>
            <a:off x="793790" y="6844192"/>
            <a:ext cx="13042821" cy="30242"/>
          </a:xfrm>
          <a:prstGeom prst="rect">
            <a:avLst/>
          </a:prstGeom>
          <a:solidFill>
            <a:srgbClr val="67534F">
              <a:alpha val="50000"/>
            </a:srgbClr>
          </a:solidFill>
          <a:ln/>
        </p:spPr>
      </p:sp>
      <p:sp>
        <p:nvSpPr>
          <p:cNvPr id="16" name="Text 10"/>
          <p:cNvSpPr/>
          <p:nvPr/>
        </p:nvSpPr>
        <p:spPr>
          <a:xfrm>
            <a:off x="793790" y="7037665"/>
            <a:ext cx="13042821" cy="424577"/>
          </a:xfrm>
          <a:prstGeom prst="rect">
            <a:avLst/>
          </a:prstGeom>
          <a:noFill/>
          <a:ln/>
        </p:spPr>
        <p:txBody>
          <a:bodyPr wrap="square" lIns="0" tIns="0" rIns="0" bIns="0" rtlCol="0" anchor="t"/>
          <a:lstStyle/>
          <a:p>
            <a:pPr marL="0" indent="0" algn="l">
              <a:lnSpc>
                <a:spcPts val="1650"/>
              </a:lnSpc>
              <a:buNone/>
            </a:pPr>
            <a:r>
              <a:rPr lang="en-US" sz="1400" i="1" dirty="0">
                <a:solidFill>
                  <a:srgbClr val="67534F"/>
                </a:solidFill>
                <a:latin typeface="Gotham" pitchFamily="50" charset="0"/>
                <a:ea typeface="Montserrat" pitchFamily="34" charset="-122"/>
                <a:cs typeface="Gotham" pitchFamily="50" charset="0"/>
              </a:rPr>
              <a:t>This analysis provides a foundation for data-driven decision-making to enhance UrbanCart Superstore's profitability and sustainable growth trajectory.</a:t>
            </a:r>
            <a:endParaRPr lang="en-US" sz="1400" dirty="0">
              <a:latin typeface="Gotham" pitchFamily="50" charset="0"/>
              <a:cs typeface="Gotham" pitchFamily="50" charset="0"/>
            </a:endParaRPr>
          </a:p>
        </p:txBody>
      </p:sp>
      <p:sp>
        <p:nvSpPr>
          <p:cNvPr id="17" name="Rectangle 16">
            <a:extLst>
              <a:ext uri="{FF2B5EF4-FFF2-40B4-BE49-F238E27FC236}">
                <a16:creationId xmlns:a16="http://schemas.microsoft.com/office/drawing/2014/main" id="{0498BAD6-3767-6619-9DA9-4FBAA86E96A9}"/>
              </a:ext>
            </a:extLst>
          </p:cNvPr>
          <p:cNvSpPr/>
          <p:nvPr/>
        </p:nvSpPr>
        <p:spPr>
          <a:xfrm>
            <a:off x="12904470" y="7749540"/>
            <a:ext cx="1611630" cy="388620"/>
          </a:xfrm>
          <a:prstGeom prst="rect">
            <a:avLst/>
          </a:prstGeom>
          <a:solidFill>
            <a:srgbClr val="FD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721</Words>
  <Application>Microsoft Office PowerPoint</Application>
  <PresentationFormat>Custom</PresentationFormat>
  <Paragraphs>122</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Gotham</vt:lpstr>
      <vt:lpstr>Arial</vt:lpstr>
      <vt:lpstr>Calibri</vt:lpstr>
      <vt:lpstr>Montserrat</vt:lpstr>
      <vt:lpstr>Gotham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Debdatta</cp:lastModifiedBy>
  <cp:revision>11</cp:revision>
  <dcterms:created xsi:type="dcterms:W3CDTF">2026-01-26T16:29:20Z</dcterms:created>
  <dcterms:modified xsi:type="dcterms:W3CDTF">2026-01-26T18:22:25Z</dcterms:modified>
</cp:coreProperties>
</file>